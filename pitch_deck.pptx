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00">
                <a:solidFill>
                  <a:srgbClr val="8A8A8A"/>
                </a:solidFill>
                <a:latin typeface="Calibri"/>
              </a:rPr>
              <a:t>VIENNA UP  ·  EUROPE TECH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 spc="-20">
                <a:solidFill>
                  <a:srgbClr val="0A0A0A"/>
                </a:solidFill>
                <a:latin typeface="Calibri"/>
              </a:rPr>
              <a:t>424,000 photos.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 spc="-20">
                <a:solidFill>
                  <a:srgbClr val="E25822"/>
                </a:solidFill>
                <a:latin typeface="Calibri"/>
              </a:rPr>
              <a:t>Nobody has time to look.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54880"/>
            <a:ext cx="548640" cy="127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Calibri"/>
              </a:rPr>
              <a:t>Sightline  —  Photo Compliance Audit for Trench Operators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spc="150">
                <a:solidFill>
                  <a:srgbClr val="8A8A8A"/>
                </a:solidFill>
                <a:latin typeface="Calibri"/>
              </a:rPr>
              <a:t>Challenge 2  ·  AI-powered evidence review for buried-cable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00">
                <a:solidFill>
                  <a:srgbClr val="8A8A8A"/>
                </a:solidFill>
                <a:latin typeface="Calibri"/>
              </a:rPr>
              <a:t>Team  ·  [your names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4520"/>
            <a:ext cx="292608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500">
                <a:solidFill>
                  <a:srgbClr val="E25822"/>
                </a:solidFill>
                <a:latin typeface="Calibri"/>
              </a:rPr>
              <a:t>01  ·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 spc="-15">
                <a:solidFill>
                  <a:srgbClr val="0A0A0A"/>
                </a:solidFill>
                <a:latin typeface="Calibri"/>
              </a:rPr>
              <a:t>Three to five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8A8A8A"/>
                </a:solidFill>
                <a:latin typeface="Calibri"/>
              </a:rPr>
              <a:t>Per project section. By hand. One operator has hundreds.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22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2200" b="0" i="0">
                <a:solidFill>
                  <a:srgbClr val="333333"/>
                </a:solidFill>
                <a:latin typeface="Calibri"/>
              </a:rPr>
              <a:t>Manual photo review is the bottleneck — so it gets skipped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22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2200" b="0" i="0">
                <a:solidFill>
                  <a:srgbClr val="333333"/>
                </a:solidFill>
                <a:latin typeface="Calibri"/>
              </a:rPr>
              <a:t>Undocumented cables surface years later, when someone digs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22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2200" b="0" i="0">
                <a:solidFill>
                  <a:srgbClr val="333333"/>
                </a:solidFill>
                <a:latin typeface="Calibri"/>
              </a:rPr>
              <a:t>Same photos get reused across jobs. Nobody notices.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44920"/>
            <a:ext cx="1097280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Sightline  ·  Photo Compliance Audit  ·  Vienna UP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4520"/>
            <a:ext cx="292608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500">
                <a:solidFill>
                  <a:srgbClr val="E25822"/>
                </a:solidFill>
                <a:latin typeface="Calibri"/>
              </a:rPr>
              <a:t>02  · 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 spc="-15">
                <a:solidFill>
                  <a:srgbClr val="0A0A0A"/>
                </a:solidFill>
                <a:latin typeface="Calibri"/>
              </a:rPr>
              <a:t>A colored map of every trench.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8A8A8A"/>
                </a:solidFill>
                <a:latin typeface="Calibri"/>
              </a:rPr>
              <a:t>Click a stretch — see the photos, the gaps, and the reason for the color.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2414016" cy="502920"/>
          </a:xfrm>
          <a:prstGeom prst="rect">
            <a:avLst/>
          </a:prstGeom>
          <a:solidFill>
            <a:srgbClr val="2A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54096" y="3703320"/>
            <a:ext cx="1975104" cy="502920"/>
          </a:xfrm>
          <a:prstGeom prst="rect">
            <a:avLst/>
          </a:prstGeom>
          <a:solidFill>
            <a:srgbClr val="2A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3703320"/>
            <a:ext cx="1426464" cy="502920"/>
          </a:xfrm>
          <a:prstGeom prst="rect">
            <a:avLst/>
          </a:prstGeom>
          <a:solidFill>
            <a:srgbClr val="D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55664" y="3703320"/>
            <a:ext cx="1865376" cy="502920"/>
          </a:xfrm>
          <a:prstGeom prst="rect">
            <a:avLst/>
          </a:prstGeom>
          <a:solidFill>
            <a:srgbClr val="2A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3703320"/>
            <a:ext cx="1097280" cy="502920"/>
          </a:xfrm>
          <a:prstGeom prst="rect">
            <a:avLst/>
          </a:prstGeom>
          <a:solidFill>
            <a:srgbClr val="C8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0" y="3703320"/>
            <a:ext cx="2194560" cy="502920"/>
          </a:xfrm>
          <a:prstGeom prst="rect">
            <a:avLst/>
          </a:prstGeom>
          <a:solidFill>
            <a:srgbClr val="2A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8A8A8A"/>
                </a:solidFill>
                <a:latin typeface="Calibri"/>
              </a:rPr>
              <a:t>meter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spc="200">
                <a:solidFill>
                  <a:srgbClr val="8A8A8A"/>
                </a:solidFill>
                <a:latin typeface="Calibri"/>
              </a:rPr>
              <a:t>meter 280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956048"/>
            <a:ext cx="201168" cy="201168"/>
          </a:xfrm>
          <a:prstGeom prst="ellipse">
            <a:avLst/>
          </a:prstGeom>
          <a:solidFill>
            <a:srgbClr val="2A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Calibri"/>
              </a:rPr>
              <a:t>GREEN  ·  documented, all checks pass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40096"/>
            <a:ext cx="201168" cy="201168"/>
          </a:xfrm>
          <a:prstGeom prst="ellipse">
            <a:avLst/>
          </a:prstGeom>
          <a:solidFill>
            <a:srgbClr val="D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2760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Calibri"/>
              </a:rPr>
              <a:t>YELLOW  ·  gap &gt; 5m, or a check failed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724144"/>
            <a:ext cx="201168" cy="201168"/>
          </a:xfrm>
          <a:prstGeom prst="ellipse">
            <a:avLst/>
          </a:prstGeom>
          <a:solidFill>
            <a:srgbClr val="C8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66013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RED  ·  almost no photos — look here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44920"/>
            <a:ext cx="1097280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Sightline  ·  Photo Compliance Audit  ·  Vienna UP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4520"/>
            <a:ext cx="292608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500">
                <a:solidFill>
                  <a:srgbClr val="E25822"/>
                </a:solidFill>
                <a:latin typeface="Calibri"/>
              </a:rPr>
              <a:t>03  · 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0" b="1" i="0" spc="-40">
                <a:solidFill>
                  <a:srgbClr val="0A0A0A"/>
                </a:solidFill>
                <a:latin typeface="Calibri"/>
              </a:rPr>
              <a:t>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12080"/>
            <a:ext cx="1097280" cy="127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400">
                <a:solidFill>
                  <a:srgbClr val="8A8A8A"/>
                </a:solidFill>
                <a:latin typeface="Calibri"/>
              </a:rPr>
              <a:t>switch tabs  ·  talk over the click-through  ·  60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44920"/>
            <a:ext cx="1097280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Sightline  ·  Photo Compliance Audit  ·  Vienna UP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4520"/>
            <a:ext cx="292608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500">
                <a:solidFill>
                  <a:srgbClr val="E25822"/>
                </a:solidFill>
                <a:latin typeface="Calibri"/>
              </a:rPr>
              <a:t>04  ·  WHAT THE TOOL CATCHES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 spc="-15">
                <a:solidFill>
                  <a:srgbClr val="0A0A0A"/>
                </a:solidFill>
                <a:latin typeface="Calibri"/>
              </a:rPr>
              <a:t>Eight checks per photo.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8A8A8A"/>
                </a:solidFill>
                <a:latin typeface="Calibri"/>
              </a:rPr>
              <a:t>Six read by Claude vision. Two read by math. Two filters decide which apply.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500">
                <a:solidFill>
                  <a:srgbClr val="E25822"/>
                </a:solidFill>
                <a:latin typeface="Calibri"/>
              </a:rPr>
              <a:t>READ BY CLAUDE  ·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Orange warning tape visible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Sand under the cable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Side-view of the trench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Depth reference (ruler) in frame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Cable ends sealed (white caps)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Faces / plates  —  privacy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03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500">
                <a:solidFill>
                  <a:srgbClr val="E25822"/>
                </a:solidFill>
                <a:latin typeface="Calibri"/>
              </a:rPr>
              <a:t>READ BY MATH  ·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Duplicate fingerprint  —  catches reused photos across jobs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GPS vs printed address  —  catches wrong-location submissions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500">
                <a:solidFill>
                  <a:srgbClr val="E25822"/>
                </a:solidFill>
                <a:latin typeface="Calibri"/>
              </a:rPr>
              <a:t>FILTERS  · 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85216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Is this photo relevant at all?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What stage of work — only relevant checks fire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4920"/>
            <a:ext cx="1097280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Sightline  ·  Photo Compliance Audit  ·  Vienna UP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4520"/>
            <a:ext cx="292608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500">
                <a:solidFill>
                  <a:srgbClr val="E25822"/>
                </a:solidFill>
                <a:latin typeface="Calibri"/>
              </a:rPr>
              <a:t>05  ·  THE PILOT  ·  AND HOW WE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 spc="-15">
                <a:solidFill>
                  <a:srgbClr val="0A0A0A"/>
                </a:solidFill>
                <a:latin typeface="Calibri"/>
              </a:rPr>
              <a:t>3,929 photos. $15. 30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8A8A8A"/>
                </a:solidFill>
                <a:latin typeface="Calibri"/>
              </a:rPr>
              <a:t>End-to-end on a laptop. Then measured against 214 hand-labeled photos, blind.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49039"/>
            <a:ext cx="365760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365760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 spc="-25">
                <a:solidFill>
                  <a:srgbClr val="0A0A0A"/>
                </a:solidFill>
                <a:latin typeface="Calibri"/>
              </a:rPr>
              <a:t>~600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33333"/>
                </a:solidFill>
                <a:latin typeface="Calibri"/>
              </a:rPr>
              <a:t>duplicates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3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150">
                <a:solidFill>
                  <a:srgbClr val="8A8A8A"/>
                </a:solidFill>
                <a:latin typeface="Calibri"/>
              </a:rPr>
              <a:t>before any AI cost  ·  photo fingerprints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3749039"/>
            <a:ext cx="365760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3749039"/>
            <a:ext cx="365760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977639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 spc="-25">
                <a:solidFill>
                  <a:srgbClr val="0A0A0A"/>
                </a:solidFill>
                <a:latin typeface="Calibri"/>
              </a:rPr>
              <a:t>2,983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49834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33333"/>
                </a:solidFill>
                <a:latin typeface="Calibri"/>
              </a:rPr>
              <a:t>stretches scored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534923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150">
                <a:solidFill>
                  <a:srgbClr val="8A8A8A"/>
                </a:solidFill>
                <a:latin typeface="Calibri"/>
              </a:rPr>
              <a:t>GREEN / YELLOW / RED  ·  every 5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3749039"/>
            <a:ext cx="365760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3749039"/>
            <a:ext cx="365760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3977639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 spc="-25">
                <a:solidFill>
                  <a:srgbClr val="0A0A0A"/>
                </a:solidFill>
                <a:latin typeface="Calibri"/>
              </a:rPr>
              <a:t>96%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49834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33333"/>
                </a:solidFill>
                <a:latin typeface="Calibri"/>
              </a:rPr>
              <a:t>on safety-critical 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5349239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150">
                <a:solidFill>
                  <a:srgbClr val="8A8A8A"/>
                </a:solidFill>
                <a:latin typeface="Calibri"/>
              </a:rPr>
              <a:t>depth-evidence agreement  ·  72% across both phase classes  ·  n=214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44920"/>
            <a:ext cx="1097280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Sightline  ·  Photo Compliance Audit  ·  Vienna UP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4520"/>
            <a:ext cx="292608" cy="381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500">
                <a:solidFill>
                  <a:srgbClr val="E25822"/>
                </a:solidFill>
                <a:latin typeface="Calibri"/>
              </a:rPr>
              <a:t>06  ·  THE NEXT MILE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 spc="-15">
                <a:solidFill>
                  <a:srgbClr val="0A0A0A"/>
                </a:solidFill>
                <a:latin typeface="Calibri"/>
              </a:rPr>
              <a:t>Full operator backlog: ~$1,900.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A8A8A"/>
                </a:solidFill>
                <a:latin typeface="Calibri"/>
              </a:rPr>
              <a:t>Same code. Days of laptop time. No rewrite.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21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2100" b="0" i="0">
                <a:solidFill>
                  <a:srgbClr val="333333"/>
                </a:solidFill>
                <a:latin typeface="Calibri"/>
              </a:rPr>
              <a:t>Killer move  —  on-site upload catches gaps while the trench is still open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21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2100" b="0" i="0">
                <a:solidFill>
                  <a:srgbClr val="333333"/>
                </a:solidFill>
                <a:latin typeface="Calibri"/>
              </a:rPr>
              <a:t>Plays nicely with RTK survey verification as a phase 2 add-on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2100" b="1" i="0">
                <a:solidFill>
                  <a:srgbClr val="E25822"/>
                </a:solidFill>
                <a:latin typeface="Calibri"/>
              </a:rPr>
              <a:t>—  </a:t>
            </a:r>
            <a:r>
              <a:rPr sz="2100" b="0" i="0">
                <a:solidFill>
                  <a:srgbClr val="333333"/>
                </a:solidFill>
                <a:latin typeface="Calibri"/>
              </a:rPr>
              <a:t>What we deliberately don't pretend  —  depth-in-cm, face-blurring, custom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44920"/>
            <a:ext cx="1097280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Sightline  ·  Photo Compliance Audit  ·  Vienna UP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spc="200">
                <a:solidFill>
                  <a:srgbClr val="8A8A8A"/>
                </a:solidFill>
                <a:latin typeface="Calibr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600" b="1" i="0" spc="-20">
                <a:solidFill>
                  <a:srgbClr val="0A0A0A"/>
                </a:solidFill>
                <a:latin typeface="Calibri"/>
              </a:rPr>
              <a:t>Thank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" cy="1270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Calibri"/>
              </a:rPr>
              <a:t>Questions  —  and the colored map is still on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400">
                <a:solidFill>
                  <a:srgbClr val="8A8A8A"/>
                </a:solidFill>
                <a:latin typeface="Calibri"/>
              </a:rPr>
              <a:t>Vienna UP  ·  Challenge 2  ·  Sightline  —  Photo Compliance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