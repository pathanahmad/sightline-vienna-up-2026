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600">
                <a:solidFill>
                  <a:srgbClr val="0F172A"/>
                </a:solidFill>
                <a:latin typeface="Segoe UI"/>
              </a:rPr>
              <a:t>SIGHTLINE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2316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0F172A"/>
                </a:solidFill>
                <a:latin typeface="Segoe UI"/>
              </a:rPr>
              <a:t>“The trench gets filled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0369A1"/>
                </a:solidFill>
                <a:latin typeface="Segoe UI"/>
              </a:rPr>
              <a:t>The questions never do.”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4465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300">
                <a:solidFill>
                  <a:srgbClr val="64748B"/>
                </a:solidFill>
                <a:latin typeface="Segoe UI"/>
              </a:rPr>
              <a:t>VIENNA UP 2026  ·  CHALLENGE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0">
                <a:solidFill>
                  <a:srgbClr val="0369A1"/>
                </a:solidFill>
                <a:latin typeface="Segoe UI"/>
              </a:rPr>
              <a:t>01  — 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8016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F172A"/>
                </a:solidFill>
                <a:latin typeface="Segoe UI"/>
              </a:rPr>
              <a:t>Six stages. Two surprised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260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rgbClr val="0369A1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0F172A"/>
                </a:solidFill>
                <a:latin typeface="Segoe UI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photos +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GeoJSON 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35021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369A1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9260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rgbClr val="0369A1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3375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0F172A"/>
                </a:solidFill>
                <a:latin typeface="Segoe UI"/>
              </a:rPr>
              <a:t>DEDUP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88620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perceptual hash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on laptop, 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35021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369A1"/>
                </a:solidFill>
                <a:latin typeface="Segoe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9260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rgbClr val="0369A1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3375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0F172A"/>
                </a:solidFill>
                <a:latin typeface="Segoe UI"/>
              </a:rPr>
              <a:t>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88620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vision AI reads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the printed overlay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35021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369A1"/>
                </a:solidFill>
                <a:latin typeface="Segoe U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9260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rgbClr val="0369A1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3375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0F172A"/>
                </a:solidFill>
                <a:latin typeface="Segoe UI"/>
              </a:rPr>
              <a:t>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388620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7 compliance checks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per photo, 1 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35021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369A1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9260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rgbClr val="0369A1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33375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0F172A"/>
                </a:solidFill>
                <a:latin typeface="Segoe UI"/>
              </a:rPr>
              <a:t>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388620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every photo →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5 m trench segment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5752" y="3502152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369A1"/>
                </a:solidFill>
                <a:latin typeface="Segoe U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926080"/>
            <a:ext cx="1737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300">
                <a:solidFill>
                  <a:srgbClr val="0369A1"/>
                </a:solidFill>
                <a:latin typeface="Segoe U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3337560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0F172A"/>
                </a:solidFill>
                <a:latin typeface="Segoe UI"/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88620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CSV + PDF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75569"/>
                </a:solidFill>
                <a:latin typeface="Segoe UI"/>
              </a:rPr>
              <a:t>deficiency log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5532120"/>
            <a:ext cx="1042416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68680" y="5669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1">
                <a:solidFill>
                  <a:srgbClr val="0369A1"/>
                </a:solidFill>
                <a:latin typeface="Segoe UI"/>
              </a:rPr>
              <a:t>Live demo, next.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4465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300">
                <a:solidFill>
                  <a:srgbClr val="64748B"/>
                </a:solidFill>
                <a:latin typeface="Segoe UI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spc="400">
                <a:solidFill>
                  <a:srgbClr val="0369A1"/>
                </a:solidFill>
                <a:latin typeface="Segoe UI"/>
              </a:rPr>
              <a:t>02  — 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0F172A"/>
                </a:solidFill>
                <a:latin typeface="Segoe UI"/>
              </a:rPr>
              <a:t>3,929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64748B"/>
                </a:solidFill>
                <a:latin typeface="Segoe UI"/>
              </a:rPr>
              <a:t>Two ways to run it.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.0" y="3383280"/>
            <a:ext cx="0.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076188" y="3429000"/>
            <a:ext cx="9144" cy="20116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400">
                <a:solidFill>
                  <a:srgbClr val="0369A1"/>
                </a:solidFill>
                <a:latin typeface="Segoe UI"/>
              </a:rPr>
              <a:t>FAST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5760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0" b="1" i="0">
                <a:solidFill>
                  <a:srgbClr val="0F172A"/>
                </a:solidFill>
                <a:latin typeface="Segoe UI"/>
              </a:rPr>
              <a:t>$12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9377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 i="0">
                <a:solidFill>
                  <a:srgbClr val="475569"/>
                </a:solidFill>
                <a:latin typeface="Segoe UI"/>
              </a:rPr>
              <a:t>90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64748B"/>
                </a:solidFill>
                <a:latin typeface="Segoe UI"/>
              </a:rPr>
              <a:t>87% depth-evidence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2461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 spc="400">
                <a:solidFill>
                  <a:srgbClr val="0369A1"/>
                </a:solidFill>
                <a:latin typeface="Segoe UI"/>
              </a:rPr>
              <a:t>CAREFUL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65760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400" b="1" i="0">
                <a:solidFill>
                  <a:srgbClr val="0F172A"/>
                </a:solidFill>
                <a:latin typeface="Segoe UI"/>
              </a:rPr>
              <a:t>$40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9377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200" b="0" i="0">
                <a:solidFill>
                  <a:srgbClr val="475569"/>
                </a:solidFill>
                <a:latin typeface="Segoe UI"/>
              </a:rPr>
              <a:t>3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486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>
                <a:solidFill>
                  <a:srgbClr val="64748B"/>
                </a:solidFill>
                <a:latin typeface="Segoe UI"/>
              </a:rPr>
              <a:t>96% depth-evidence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6072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i="1" spc="200">
                <a:solidFill>
                  <a:srgbClr val="64748B"/>
                </a:solidFill>
                <a:latin typeface="Segoe UI"/>
              </a:rPr>
              <a:t>Manual review  ·  3 – 5 engineer-days per section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23560" y="6172200"/>
            <a:ext cx="2743200" cy="0"/>
          </a:xfrm>
          <a:prstGeom prst="line">
            <a:avLst/>
          </a:prstGeom>
          <a:ln w="19050">
            <a:solidFill>
              <a:srgbClr val="0369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68680" y="62636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475569"/>
                </a:solidFill>
                <a:latin typeface="Segoe UI"/>
              </a:rPr>
              <a:t>Same pipeline. Operator picks.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4465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300">
                <a:solidFill>
                  <a:srgbClr val="64748B"/>
                </a:solidFill>
                <a:latin typeface="Segoe UI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0F172A"/>
                </a:solidFill>
                <a:latin typeface="Segoe UI"/>
              </a:rPr>
              <a:t>Don’t let the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0369A1"/>
                </a:solidFill>
                <a:latin typeface="Segoe UI"/>
              </a:rPr>
              <a:t>outlive the trench.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4937760"/>
            <a:ext cx="457200" cy="0"/>
          </a:xfrm>
          <a:prstGeom prst="line">
            <a:avLst/>
          </a:prstGeom>
          <a:ln w="12700">
            <a:solidFill>
              <a:srgbClr val="0F17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172A"/>
                </a:solidFill>
                <a:latin typeface="Segoe UI"/>
              </a:rPr>
              <a:t>Sightline.  The demo’s 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spc="300">
                <a:solidFill>
                  <a:srgbClr val="64748B"/>
                </a:solidFill>
                <a:latin typeface="Segoe UI"/>
              </a:rPr>
              <a:t>TEAM SIGHTLINE  ·  VIENNA UP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