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TrenchVerify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A8E8"/>
                </a:solidFill>
              </a:rPr>
              <a:t>From Site Photo to Compliance Audit —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6E0"/>
                </a:solidFill>
              </a:rPr>
              <a:t>AI-powered photo review  ·  Full audit trail  ·  GDPR-compliant  ·  Zero data retained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448" y="5230368"/>
            <a:ext cx="741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CCD6E0"/>
                </a:solidFill>
              </a:rPr>
              <a:t>Team</a:t>
            </a:r>
            <a:r>
              <a:rPr lang="en-US" b="0" i="0" dirty="0">
                <a:solidFill>
                  <a:srgbClr val="CCD6E0"/>
                </a:solidFill>
              </a:rPr>
              <a:t> – 42 </a:t>
            </a:r>
            <a:r>
              <a:rPr lang="en-US" b="0" i="0" dirty="0" err="1">
                <a:solidFill>
                  <a:srgbClr val="CCD6E0"/>
                </a:solidFill>
              </a:rPr>
              <a:t>Cloudettes</a:t>
            </a:r>
            <a:r>
              <a:rPr b="0" i="0" dirty="0">
                <a:solidFill>
                  <a:srgbClr val="CCD6E0"/>
                </a:solidFill>
              </a:rPr>
              <a:t>: [</a:t>
            </a:r>
            <a:r>
              <a:rPr lang="en-US" b="0" i="0" dirty="0">
                <a:solidFill>
                  <a:srgbClr val="CCD6E0"/>
                </a:solidFill>
              </a:rPr>
              <a:t>Ahmed</a:t>
            </a:r>
            <a:r>
              <a:rPr b="0" i="0" dirty="0">
                <a:solidFill>
                  <a:srgbClr val="CCD6E0"/>
                </a:solidFill>
              </a:rPr>
              <a:t>]  ·  [</a:t>
            </a:r>
            <a:r>
              <a:rPr lang="en-US" dirty="0">
                <a:solidFill>
                  <a:srgbClr val="CCD6E0"/>
                </a:solidFill>
              </a:rPr>
              <a:t>Tino</a:t>
            </a:r>
            <a:r>
              <a:rPr b="0" i="0" dirty="0">
                <a:solidFill>
                  <a:srgbClr val="CCD6E0"/>
                </a:solidFill>
              </a:rPr>
              <a:t>]  ·  [</a:t>
            </a:r>
            <a:r>
              <a:rPr lang="en-US" b="0" i="0" dirty="0" err="1">
                <a:solidFill>
                  <a:srgbClr val="CCD6E0"/>
                </a:solidFill>
              </a:rPr>
              <a:t>Evgenie</a:t>
            </a:r>
            <a:r>
              <a:rPr b="0" i="0" dirty="0">
                <a:solidFill>
                  <a:srgbClr val="CCD6E0"/>
                </a:solidFill>
              </a:rPr>
              <a:t>]</a:t>
            </a:r>
            <a:r>
              <a:rPr lang="en-IN" dirty="0">
                <a:solidFill>
                  <a:srgbClr val="CCD6E0"/>
                </a:solidFill>
              </a:rPr>
              <a:t> ]  ·  [Himani]</a:t>
            </a:r>
            <a:endParaRPr b="0" i="0" dirty="0">
              <a:solidFill>
                <a:srgbClr val="CCD6E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Vienna UP 2026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APG Cannot See Will Cost Millions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Missing
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No compliant photo evidence for open trench, duct positioning, or sand bedding at critical sections.
Result: Warranty claims invalid — liability shifts from contractors to APG.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No Audit
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231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Manual spot-checks miss ~30% of defects. No timestamped, per-meter record exists.
Result: Cannot prove contractual compliance after work is buried and closed.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Slow &amp;
Impossible to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3–5 days per section × 9 sections × 100× backlog = thousands of person-days of review.
Result: Review gets skipped. Problems surface years later via excavator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COST OF INACTION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Poor Documentation Today = Exponential Costs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€120K+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Average cost per
fiber-cut incident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3–5×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Cost multiplier when
work is undocumented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€2.4M+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Estimated 5-year
exposure if unresolved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50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Planned asset lifespan
now at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* Based on industry benchmarks and internal öGIG / APG estimates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107"/>
                </a:solidFill>
              </a:rPr>
              <a:t>The real question isn't whether to fix this.
It's whether to fix it before or after the next fiber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 Digital Compliance Platform — Built for APG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109728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7E"/>
                </a:solidFill>
              </a:rPr>
              <a:t>100%
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Every trench segment reviewed automatically.
No spot-checks. No gaps.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1463040"/>
            <a:ext cx="256032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E8"/>
                </a:solidFill>
              </a:rPr>
              <a:t>Full
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Every photo timestamped, GPS-matched,
compliance-scored, and logged.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1463040"/>
            <a:ext cx="2560320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GDPR
Safe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Faces &amp; plates auto-detected and withheld.
Nothing stored on our infrastructure.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1463040"/>
            <a:ext cx="256032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99%
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&lt; 30 minutes for the full route —
vs. 3–5 days per section manually.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Six Steps, 30 Minutes, Zero Human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~3,929 photos +
GeoJSON route file
loaded into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8648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8648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Geo-Match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GPS overlay text
matched to trench
segment at 5 m 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37176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37176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AI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8 compliance checks
per photo via
Claude vision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4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75704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75704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Classify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Each segment scored:
GREEN / YELLOW / RED
based on check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416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74152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14232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14232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415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Interactive color
map rendered in
browser — click any seg.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8944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1417320"/>
            <a:ext cx="1737360" cy="347472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52760" y="1325880"/>
            <a:ext cx="457200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5276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Audit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46888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CSV + HTML report
downloaded; full
per-meter log exported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74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8 checks: warning tape · sand bedding · side-view angle · depth reference · sealed cable ends · GDPR (faces/plates) · duplicate detection · GPS↔address match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0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7E"/>
                </a:solidFill>
              </a:rPr>
              <a:t>Manual review: 3–5 days per section   →   TrenchVerify: &lt; 30 minutes for the full 2,983-segment route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Two Screens. One Pipeline. Zero Data Retained.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0" cy="4846320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7E"/>
                </a:solidFill>
              </a:rPr>
              <a:t>OPERATOR SCREEN  (on-site)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Upload photos from site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Instant per-photo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"Missing sand photo — retake now"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Catches gaps while trench is open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5303520" cy="484632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E8"/>
                </a:solidFill>
              </a:rPr>
              <a:t>REVIEWER DASHBOARD  (APG office)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AI runs once at upload — results stored, zero re-processing per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Color map: click any red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View evidence photos + check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233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Download audit CSV / HTML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834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E8"/>
                </a:solidFill>
              </a:rPr>
              <a:t>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4290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One platform
two entry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2910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Data flow: photos processed transiently in customer cloud  ·  AI model called via API — no photo stored  ·  Results written to customer-owned DB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COMPLIANCE &amp; GDPR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Regulatory Compliance Baked In — Not Bolted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9144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7E"/>
                </a:solidFill>
              </a:rPr>
              <a:t>GDPR / NIS2
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Faces and license plates detected in every photo before any reviewer sees them. Flagged images are withheld from the display grid and routed to a "needs retake" list. No personal data is ever shown, stored, or transmitted to our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0352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E8"/>
                </a:solidFill>
              </a:rPr>
              <a:t>Zero Data
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Photos are processed transiently — held in memory for the duration of the AI call, then released. Nothing is persisted on our servers. All results (scores, logs) are written exclusively to the customer's own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530352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9776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107"/>
                </a:solidFill>
              </a:rPr>
              <a:t>Full Audit
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Every check result is logged with: photo ID · trench segment · GPS coordinates · timestamp · pass/fail per check. The export is a court-admissible evidence trail, not just a summary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30352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Contractor
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Duplicate-photo detection fingerprints every image. If a contractor reuses the same photo across jobs, the system catches the original, the copy, and all job IDs it was submitted to. In our pilot: ~600 duplicates detected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E8"/>
                </a:solidFill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Numbers Speak for Themselves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€2.4M+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5-year liability exposure eliminated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470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by catching every defect before contractor sign-off
(€120K/incident × ~30% miss rate)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A8E8"/>
                </a:solidFill>
              </a:rP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faster review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3–5 days per section → &lt; 30 min for the full route
(measured: 3,929 photos in 28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segment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758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zero trench meters go unreviewed
(photo-per-5 m rule across all 2,983 segments)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audit 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5902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every check logged per photo · per meter · per timestamp
(exportable CSV/HTML, court-admissible)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1430000" cy="859536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7E"/>
                </a:solidFill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hidden GDPR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5046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faces &amp; plates flagged and withheld before any reviewer sees them
(NIS2/GDPR checks run on 100% of photos)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solidFill>
            <a:srgbClr val="00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7E"/>
                </a:solidFill>
              </a:rPr>
              <a:t>$15 in AI cost  ·  28 minutes end-to-end  ·  3,929 photos  ·  2,983 segments scored  ·  ~600 duplicates caught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Every Unreviewed Meter Is a Liability.
We Close That Gap —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329184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E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Approve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Authorise the TrenchVerify AI pilot
for the current Klosterneuburg
route 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329184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10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Define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Set acceptance thresholds:
coverage %, photo compliance rate,
time-to-report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600200"/>
            <a:ext cx="3291840" cy="13716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828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7E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Roll out across all future APG
construction phases — protect
the full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7E"/>
                </a:solidFill>
              </a:rPr>
              <a:t>Protect €42M+ in infrastructure.  Secure the 50-year network lifespan.  Act today.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A8E8"/>
                </a:solidFill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TrenchVerify — From Site Photo to Compliance Audit —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</a:rPr>
              <a:t>Team: [Name 1]  ·  [Name 2]  ·  [Name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5566"/>
                </a:solidFill>
              </a:rPr>
              <a:t>Built at Vienna UP 2026  ·  All pilot data from APG partner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1081</Words>
  <Application>Microsoft Macintosh PowerPoint</Application>
  <PresentationFormat>Custom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Himani Sharma</cp:lastModifiedBy>
  <cp:revision>4</cp:revision>
  <dcterms:created xsi:type="dcterms:W3CDTF">2013-01-27T09:14:16Z</dcterms:created>
  <dcterms:modified xsi:type="dcterms:W3CDTF">2026-05-16T18:43:51Z</dcterms:modified>
  <cp:category/>
</cp:coreProperties>
</file>