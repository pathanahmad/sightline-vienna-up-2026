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888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0" roundtripDataSignature="AMtx7miMs7rhwdUjbb5KvReLb7iBeQEvS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tino _2002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5-17T09:35:03.623">
    <p:pos x="6000" y="0"/>
    <p:text>reason is mutually exclusive flags. Reccommend multi flag approach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6jJVkgM"/>
      </p:ext>
    </p:extLs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2a95130a1_0_5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e2a95130a1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2a95130a1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g3e2a95130a1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e2a95130a1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g3e2a95130a1_0_6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e2a95130a1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g3e2a95130a1_0_4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e2a95130a1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g3e2a95130a1_0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e2a95130a1_2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e2a95130a1_2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omments" Target="../comments/comment1.xml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640080" y="1463040"/>
            <a:ext cx="105156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TrenchVerify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640080" y="274320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From Site Photo to Compliance Audit — Automatically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40080" y="3566160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AI-powered photo review  ·  Full audit trail  ·  GDPR-compliant</a:t>
            </a:r>
            <a:endParaRPr b="0" i="0" sz="1400" u="none" cap="none" strike="noStrike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640080" y="5852160"/>
            <a:ext cx="7315200" cy="2923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Team: 42 Claudettes : [Ahmad]  ·  [Tino]  ·  [Evgenii]  ·  [Himani]</a:t>
            </a:r>
            <a:endParaRPr sz="1300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8686800" y="585216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Vienna UP 2026  ·  May 2026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640080" y="4143773"/>
            <a:ext cx="1051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Prototype Documentation: https://pathanahmad.github.io/vienna-up-2026/</a:t>
            </a:r>
            <a:endParaRPr b="0" i="0" sz="1400" u="none" cap="none" strike="noStrike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457200" y="50292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</a:t>
            </a: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ÖGIG</a:t>
            </a:r>
            <a:r>
              <a:rPr b="1" i="0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Cannot See Will Cost Millions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8502838" y="1371600"/>
            <a:ext cx="3566100" cy="5029200"/>
          </a:xfrm>
          <a:prstGeom prst="rect">
            <a:avLst/>
          </a:prstGeom>
          <a:solidFill>
            <a:srgbClr val="1A2E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8685718" y="1508760"/>
            <a:ext cx="32004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Missing</a:t>
            </a:r>
            <a:b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Documentation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8685718" y="2423160"/>
            <a:ext cx="3200400" cy="25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No compliant photo evidence for open trench, duct positioning, or sand bedding at critical sections.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Result: Warranty claims invalid — liability shifts from contractors to APG.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4297680" y="1371600"/>
            <a:ext cx="3566160" cy="5029200"/>
          </a:xfrm>
          <a:prstGeom prst="rect">
            <a:avLst/>
          </a:prstGeom>
          <a:solidFill>
            <a:srgbClr val="1A2E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4480560" y="1508760"/>
            <a:ext cx="3200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No Audit</a:t>
            </a:r>
            <a:b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Trail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4480560" y="2423160"/>
            <a:ext cx="32004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Manual spot-checks miss ~30% of defects. No timestamped, per-meter record exists.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Result: Cannot prove contractual compliance after work is buried and closed.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229402" y="1392333"/>
            <a:ext cx="3566100" cy="5029200"/>
          </a:xfrm>
          <a:prstGeom prst="rect">
            <a:avLst/>
          </a:prstGeom>
          <a:solidFill>
            <a:srgbClr val="1A2E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412282" y="1529493"/>
            <a:ext cx="32004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Slow Human</a:t>
            </a:r>
            <a:r>
              <a:rPr b="1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 Review </a:t>
            </a:r>
            <a: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&amp;</a:t>
            </a:r>
            <a:b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Impossible to Scale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412282" y="2443893"/>
            <a:ext cx="3200400" cy="3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–2 minutes per image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× </a:t>
            </a:r>
            <a:r>
              <a:rPr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0 images per section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× 10 sections per project = thousands of person-days of review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Result: </a:t>
            </a:r>
            <a:r>
              <a:rPr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“expensive” or low-quality r</a:t>
            </a: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eview (problems surface years later via excavator damage).</a:t>
            </a:r>
            <a:endParaRPr b="0" i="0" sz="2000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FF4D4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COST OF INACTION</a:t>
            </a:r>
            <a:endParaRPr/>
          </a:p>
        </p:txBody>
      </p:sp>
      <p:sp>
        <p:nvSpPr>
          <p:cNvPr id="114" name="Google Shape;114;p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Poor Documentation Today = Exponential Costs Tomorrow</a:t>
            </a:r>
            <a:endParaRPr/>
          </a:p>
        </p:txBody>
      </p:sp>
      <p:sp>
        <p:nvSpPr>
          <p:cNvPr id="115" name="Google Shape;115;p3"/>
          <p:cNvSpPr/>
          <p:nvPr/>
        </p:nvSpPr>
        <p:spPr>
          <a:xfrm>
            <a:off x="73152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3"/>
          <p:cNvSpPr txBox="1"/>
          <p:nvPr/>
        </p:nvSpPr>
        <p:spPr>
          <a:xfrm>
            <a:off x="731520" y="192024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FF4D4D"/>
                </a:solidFill>
                <a:latin typeface="Calibri"/>
                <a:ea typeface="Calibri"/>
                <a:cs typeface="Calibri"/>
                <a:sym typeface="Calibri"/>
              </a:rPr>
              <a:t>€120K+</a:t>
            </a:r>
            <a:endParaRPr/>
          </a:p>
        </p:txBody>
      </p:sp>
      <p:sp>
        <p:nvSpPr>
          <p:cNvPr id="117" name="Google Shape;117;p3"/>
          <p:cNvSpPr txBox="1"/>
          <p:nvPr/>
        </p:nvSpPr>
        <p:spPr>
          <a:xfrm>
            <a:off x="731520" y="301752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Average cost per</a:t>
            </a:r>
            <a:b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fiber-cut incident</a:t>
            </a:r>
            <a:endParaRPr/>
          </a:p>
        </p:txBody>
      </p:sp>
      <p:sp>
        <p:nvSpPr>
          <p:cNvPr id="118" name="Google Shape;118;p3"/>
          <p:cNvSpPr/>
          <p:nvPr/>
        </p:nvSpPr>
        <p:spPr>
          <a:xfrm>
            <a:off x="365760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3657600" y="192024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FF4D4D"/>
                </a:solidFill>
                <a:latin typeface="Calibri"/>
                <a:ea typeface="Calibri"/>
                <a:cs typeface="Calibri"/>
                <a:sym typeface="Calibri"/>
              </a:rPr>
              <a:t>3–5×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3657600" y="301752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Cost multiplier when</a:t>
            </a:r>
            <a:b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work is undocumented</a:t>
            </a:r>
            <a:endParaRPr/>
          </a:p>
        </p:txBody>
      </p:sp>
      <p:sp>
        <p:nvSpPr>
          <p:cNvPr id="121" name="Google Shape;121;p3"/>
          <p:cNvSpPr/>
          <p:nvPr/>
        </p:nvSpPr>
        <p:spPr>
          <a:xfrm>
            <a:off x="658368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6583680" y="192024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FF4D4D"/>
                </a:solidFill>
                <a:latin typeface="Calibri"/>
                <a:ea typeface="Calibri"/>
                <a:cs typeface="Calibri"/>
                <a:sym typeface="Calibri"/>
              </a:rPr>
              <a:t>€2.4M+</a:t>
            </a:r>
            <a:endParaRPr/>
          </a:p>
        </p:txBody>
      </p:sp>
      <p:sp>
        <p:nvSpPr>
          <p:cNvPr id="123" name="Google Shape;123;p3"/>
          <p:cNvSpPr txBox="1"/>
          <p:nvPr/>
        </p:nvSpPr>
        <p:spPr>
          <a:xfrm>
            <a:off x="6583680" y="301752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Estimated 5-year</a:t>
            </a:r>
            <a:b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exposure if unresolved</a:t>
            </a:r>
            <a:endParaRPr/>
          </a:p>
        </p:txBody>
      </p:sp>
      <p:sp>
        <p:nvSpPr>
          <p:cNvPr id="124" name="Google Shape;124;p3"/>
          <p:cNvSpPr/>
          <p:nvPr/>
        </p:nvSpPr>
        <p:spPr>
          <a:xfrm>
            <a:off x="950976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9509760" y="192024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FF4D4D"/>
                </a:solidFill>
                <a:latin typeface="Calibri"/>
                <a:ea typeface="Calibri"/>
                <a:cs typeface="Calibri"/>
                <a:sym typeface="Calibri"/>
              </a:rPr>
              <a:t>50 yrs</a:t>
            </a:r>
            <a:endParaRPr/>
          </a:p>
        </p:txBody>
      </p:sp>
      <p:sp>
        <p:nvSpPr>
          <p:cNvPr id="126" name="Google Shape;126;p3"/>
          <p:cNvSpPr txBox="1"/>
          <p:nvPr/>
        </p:nvSpPr>
        <p:spPr>
          <a:xfrm>
            <a:off x="9509760" y="301752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Planned asset lifespan</a:t>
            </a:r>
            <a:b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now at risk</a:t>
            </a:r>
            <a:endParaRPr/>
          </a:p>
        </p:txBody>
      </p:sp>
      <p:sp>
        <p:nvSpPr>
          <p:cNvPr id="127" name="Google Shape;127;p3"/>
          <p:cNvSpPr txBox="1"/>
          <p:nvPr/>
        </p:nvSpPr>
        <p:spPr>
          <a:xfrm>
            <a:off x="457200" y="530352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The real question isn't whether to fix this.</a:t>
            </a:r>
            <a:br>
              <a:rPr b="1" i="0" lang="en-US" sz="18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8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It's whether to fix it before or after the next fiber cut.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OUR SOLUTION</a:t>
            </a:r>
            <a:endParaRPr/>
          </a:p>
        </p:txBody>
      </p:sp>
      <p:sp>
        <p:nvSpPr>
          <p:cNvPr id="134" name="Google Shape;134;p4"/>
          <p:cNvSpPr txBox="1"/>
          <p:nvPr/>
        </p:nvSpPr>
        <p:spPr>
          <a:xfrm>
            <a:off x="457200" y="50292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Digital Compliance Platform — Built for </a:t>
            </a: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ÖGIG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73152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731520" y="1463040"/>
            <a:ext cx="2560320" cy="109728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/>
          <p:cNvSpPr txBox="1"/>
          <p:nvPr/>
        </p:nvSpPr>
        <p:spPr>
          <a:xfrm>
            <a:off x="731520" y="1691640"/>
            <a:ext cx="2560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D47E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br>
              <a:rPr b="1" i="0" lang="en-US" sz="2200">
                <a:solidFill>
                  <a:srgbClr val="00D47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200">
                <a:solidFill>
                  <a:srgbClr val="00D47E"/>
                </a:solidFill>
                <a:latin typeface="Calibri"/>
                <a:ea typeface="Calibri"/>
                <a:cs typeface="Calibri"/>
                <a:sym typeface="Calibri"/>
              </a:rPr>
              <a:t>Coverage</a:t>
            </a:r>
            <a:endParaRPr/>
          </a:p>
        </p:txBody>
      </p:sp>
      <p:sp>
        <p:nvSpPr>
          <p:cNvPr id="138" name="Google Shape;138;p4"/>
          <p:cNvSpPr txBox="1"/>
          <p:nvPr/>
        </p:nvSpPr>
        <p:spPr>
          <a:xfrm>
            <a:off x="868680" y="2834640"/>
            <a:ext cx="22860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Every trench segment reviewed automatically.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No spot-checks. No gaps.</a:t>
            </a:r>
            <a:endParaRPr/>
          </a:p>
        </p:txBody>
      </p:sp>
      <p:sp>
        <p:nvSpPr>
          <p:cNvPr id="139" name="Google Shape;139;p4"/>
          <p:cNvSpPr/>
          <p:nvPr/>
        </p:nvSpPr>
        <p:spPr>
          <a:xfrm>
            <a:off x="365760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3657600" y="1463040"/>
            <a:ext cx="2560320" cy="109728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 txBox="1"/>
          <p:nvPr/>
        </p:nvSpPr>
        <p:spPr>
          <a:xfrm>
            <a:off x="3657600" y="1691640"/>
            <a:ext cx="2560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Full</a:t>
            </a:r>
            <a:br>
              <a:rPr b="1" i="0" lang="en-US" sz="22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2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Audit Trail</a:t>
            </a:r>
            <a:endParaRPr/>
          </a:p>
        </p:txBody>
      </p:sp>
      <p:sp>
        <p:nvSpPr>
          <p:cNvPr id="142" name="Google Shape;142;p4"/>
          <p:cNvSpPr txBox="1"/>
          <p:nvPr/>
        </p:nvSpPr>
        <p:spPr>
          <a:xfrm>
            <a:off x="3794760" y="2834640"/>
            <a:ext cx="22860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Every photo timestamped, GPS-matched,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compliance-scored, and logged.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658368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6583680" y="1463040"/>
            <a:ext cx="2560320" cy="109728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 txBox="1"/>
          <p:nvPr/>
        </p:nvSpPr>
        <p:spPr>
          <a:xfrm>
            <a:off x="6583680" y="1691640"/>
            <a:ext cx="2560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GDPR</a:t>
            </a:r>
            <a:br>
              <a:rPr b="1" i="0" lang="en-US" sz="22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2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Safe</a:t>
            </a:r>
            <a:endParaRPr/>
          </a:p>
        </p:txBody>
      </p:sp>
      <p:sp>
        <p:nvSpPr>
          <p:cNvPr id="146" name="Google Shape;146;p4"/>
          <p:cNvSpPr txBox="1"/>
          <p:nvPr/>
        </p:nvSpPr>
        <p:spPr>
          <a:xfrm>
            <a:off x="6720840" y="2834640"/>
            <a:ext cx="22860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Faces &amp; plates auto-detected and withheld.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Nothing stored on our infrastructure.</a:t>
            </a:r>
            <a:endParaRPr/>
          </a:p>
        </p:txBody>
      </p:sp>
      <p:sp>
        <p:nvSpPr>
          <p:cNvPr id="147" name="Google Shape;147;p4"/>
          <p:cNvSpPr/>
          <p:nvPr/>
        </p:nvSpPr>
        <p:spPr>
          <a:xfrm>
            <a:off x="950976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9509760" y="1463040"/>
            <a:ext cx="256032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 txBox="1"/>
          <p:nvPr/>
        </p:nvSpPr>
        <p:spPr>
          <a:xfrm>
            <a:off x="9509760" y="1691640"/>
            <a:ext cx="2560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99%</a:t>
            </a:r>
            <a:br>
              <a:rPr b="1" i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Faster</a:t>
            </a:r>
            <a:endParaRPr/>
          </a:p>
        </p:txBody>
      </p:sp>
      <p:sp>
        <p:nvSpPr>
          <p:cNvPr id="150" name="Google Shape;150;p4"/>
          <p:cNvSpPr txBox="1"/>
          <p:nvPr/>
        </p:nvSpPr>
        <p:spPr>
          <a:xfrm>
            <a:off x="9646920" y="2834640"/>
            <a:ext cx="22860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&lt; 30 minutes for the full route —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vs. 3–5 days per section manually.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g3e2a95130a1_0_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6675"/>
            <a:ext cx="12073475" cy="679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e2a95130a1_0_3"/>
          <p:cNvSpPr/>
          <p:nvPr/>
        </p:nvSpPr>
        <p:spPr>
          <a:xfrm>
            <a:off x="0" y="0"/>
            <a:ext cx="12189000" cy="73200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g3e2a95130a1_0_3"/>
          <p:cNvSpPr/>
          <p:nvPr/>
        </p:nvSpPr>
        <p:spPr>
          <a:xfrm>
            <a:off x="0" y="6766560"/>
            <a:ext cx="12189000" cy="73200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g3e2a95130a1_0_3"/>
          <p:cNvSpPr txBox="1"/>
          <p:nvPr/>
        </p:nvSpPr>
        <p:spPr>
          <a:xfrm>
            <a:off x="640080" y="548640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Technical Solution</a:t>
            </a:r>
            <a:endParaRPr/>
          </a:p>
        </p:txBody>
      </p:sp>
      <p:sp>
        <p:nvSpPr>
          <p:cNvPr id="163" name="Google Shape;163;g3e2a95130a1_0_3"/>
          <p:cNvSpPr/>
          <p:nvPr/>
        </p:nvSpPr>
        <p:spPr>
          <a:xfrm>
            <a:off x="8871675" y="1071850"/>
            <a:ext cx="3049800" cy="4301100"/>
          </a:xfrm>
          <a:prstGeom prst="rect">
            <a:avLst/>
          </a:prstGeom>
          <a:solidFill>
            <a:srgbClr val="1A2E42"/>
          </a:solidFill>
          <a:ln>
            <a:noFill/>
          </a:ln>
          <a:effectLst>
            <a:outerShdw blurRad="34210" rotWithShape="0" dir="5400000" dist="19671">
              <a:srgbClr val="000000">
                <a:alpha val="34900"/>
              </a:srgbClr>
            </a:outerShdw>
          </a:effectLst>
        </p:spPr>
        <p:txBody>
          <a:bodyPr anchorCtr="0" anchor="ctr" bIns="39075" lIns="78200" spcFirstLastPara="1" rIns="78200" wrap="square" tIns="390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39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3e2a95130a1_0_3"/>
          <p:cNvSpPr txBox="1"/>
          <p:nvPr/>
        </p:nvSpPr>
        <p:spPr>
          <a:xfrm>
            <a:off x="9028083" y="1189156"/>
            <a:ext cx="2737200" cy="34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9075" lIns="78200" spcFirstLastPara="1" rIns="78200" wrap="square" tIns="390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11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User input:</a:t>
            </a:r>
            <a:endParaRPr sz="1197"/>
          </a:p>
        </p:txBody>
      </p:sp>
      <p:sp>
        <p:nvSpPr>
          <p:cNvPr id="165" name="Google Shape;165;g3e2a95130a1_0_3"/>
          <p:cNvSpPr txBox="1"/>
          <p:nvPr/>
        </p:nvSpPr>
        <p:spPr>
          <a:xfrm>
            <a:off x="9028083" y="1971197"/>
            <a:ext cx="2737200" cy="27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9075" lIns="78200" spcFirstLastPara="1" rIns="78200" wrap="square" tIns="39075">
            <a:spAutoFit/>
          </a:bodyPr>
          <a:lstStyle/>
          <a:p>
            <a:pPr indent="-337217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CCD6E0"/>
              </a:buClr>
              <a:buSzPts val="1711"/>
              <a:buFont typeface="Calibri"/>
              <a:buChar char="●"/>
            </a:pPr>
            <a:r>
              <a:rPr lang="en-US" sz="1711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photos for analysis</a:t>
            </a:r>
            <a:endParaRPr sz="1711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7217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CCD6E0"/>
              </a:buClr>
              <a:buSzPts val="1711"/>
              <a:buFont typeface="Calibri"/>
              <a:buChar char="●"/>
            </a:pPr>
            <a:r>
              <a:rPr lang="en-US" sz="1711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GPS data (Trenches_geojson, POP_geojson, FCPs_geojson, FCP_Polygons_geojson)</a:t>
            </a:r>
            <a:endParaRPr sz="1711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11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1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Upload them to a single archive; the app will recognize the contents</a:t>
            </a:r>
            <a:endParaRPr sz="1711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g3e2a95130a1_0_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24240"/>
            <a:ext cx="8566876" cy="4484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e2a95130a1_0_63"/>
          <p:cNvSpPr/>
          <p:nvPr/>
        </p:nvSpPr>
        <p:spPr>
          <a:xfrm>
            <a:off x="0" y="0"/>
            <a:ext cx="12189000" cy="73200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g3e2a95130a1_0_63"/>
          <p:cNvSpPr/>
          <p:nvPr/>
        </p:nvSpPr>
        <p:spPr>
          <a:xfrm>
            <a:off x="0" y="6766560"/>
            <a:ext cx="12189000" cy="73200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g3e2a95130a1_0_63"/>
          <p:cNvSpPr txBox="1"/>
          <p:nvPr/>
        </p:nvSpPr>
        <p:spPr>
          <a:xfrm>
            <a:off x="640080" y="548640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Technical Solution</a:t>
            </a:r>
            <a:endParaRPr/>
          </a:p>
        </p:txBody>
      </p:sp>
      <p:pic>
        <p:nvPicPr>
          <p:cNvPr id="174" name="Google Shape;174;g3e2a95130a1_0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9588" y="1230999"/>
            <a:ext cx="10449649" cy="5270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g3e2a95130a1_0_6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619303" y="4330374"/>
            <a:ext cx="2415199" cy="232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COMPLIANCE &amp; GDPR</a:t>
            </a:r>
            <a:endParaRPr/>
          </a:p>
        </p:txBody>
      </p:sp>
      <p:sp>
        <p:nvSpPr>
          <p:cNvPr id="182" name="Google Shape;182;p6"/>
          <p:cNvSpPr txBox="1"/>
          <p:nvPr/>
        </p:nvSpPr>
        <p:spPr>
          <a:xfrm>
            <a:off x="457200" y="50292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Compliance Report: What </a:t>
            </a: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ÖGIG</a:t>
            </a:r>
            <a:r>
              <a:rPr b="1" i="0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Receives</a:t>
            </a:r>
            <a:endParaRPr/>
          </a:p>
        </p:txBody>
      </p:sp>
      <p:sp>
        <p:nvSpPr>
          <p:cNvPr id="183" name="Google Shape;183;p6"/>
          <p:cNvSpPr/>
          <p:nvPr/>
        </p:nvSpPr>
        <p:spPr>
          <a:xfrm>
            <a:off x="365760" y="137160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365760" y="1371600"/>
            <a:ext cx="5303520" cy="91440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 txBox="1"/>
          <p:nvPr/>
        </p:nvSpPr>
        <p:spPr>
          <a:xfrm>
            <a:off x="548640" y="1508760"/>
            <a:ext cx="4937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00D47E"/>
                </a:solidFill>
                <a:latin typeface="Calibri"/>
                <a:ea typeface="Calibri"/>
                <a:cs typeface="Calibri"/>
                <a:sym typeface="Calibri"/>
              </a:rPr>
              <a:t>GDPR / NIS2</a:t>
            </a:r>
            <a:br>
              <a:rPr b="1" i="0" lang="en-US" sz="1700">
                <a:solidFill>
                  <a:srgbClr val="00D47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700">
                <a:solidFill>
                  <a:srgbClr val="00D47E"/>
                </a:solidFill>
                <a:latin typeface="Calibri"/>
                <a:ea typeface="Calibri"/>
                <a:cs typeface="Calibri"/>
                <a:sym typeface="Calibri"/>
              </a:rPr>
              <a:t>Compliant</a:t>
            </a:r>
            <a:endParaRPr/>
          </a:p>
        </p:txBody>
      </p:sp>
      <p:sp>
        <p:nvSpPr>
          <p:cNvPr id="186" name="Google Shape;186;p6"/>
          <p:cNvSpPr txBox="1"/>
          <p:nvPr/>
        </p:nvSpPr>
        <p:spPr>
          <a:xfrm>
            <a:off x="548640" y="2140131"/>
            <a:ext cx="4937760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Faces and license plates detected in every photo before any reviewer sees them. Flagged images are withheld from the display grid and routed to a "needs retake" list. </a:t>
            </a:r>
            <a:endParaRPr/>
          </a:p>
        </p:txBody>
      </p:sp>
      <p:sp>
        <p:nvSpPr>
          <p:cNvPr id="187" name="Google Shape;187;p6"/>
          <p:cNvSpPr/>
          <p:nvPr/>
        </p:nvSpPr>
        <p:spPr>
          <a:xfrm>
            <a:off x="6309360" y="137160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6309360" y="1371600"/>
            <a:ext cx="5303520" cy="91440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 txBox="1"/>
          <p:nvPr/>
        </p:nvSpPr>
        <p:spPr>
          <a:xfrm>
            <a:off x="6492240" y="1508760"/>
            <a:ext cx="4937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Zero Data</a:t>
            </a:r>
            <a:br>
              <a:rPr b="1" i="0" lang="en-US" sz="17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7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Retention</a:t>
            </a:r>
            <a:endParaRPr/>
          </a:p>
        </p:txBody>
      </p:sp>
      <p:sp>
        <p:nvSpPr>
          <p:cNvPr id="190" name="Google Shape;190;p6"/>
          <p:cNvSpPr txBox="1"/>
          <p:nvPr/>
        </p:nvSpPr>
        <p:spPr>
          <a:xfrm>
            <a:off x="6492240" y="2140131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Photos are processed transiently — held in memory for the duration of the AI call, then released. Nothing is persisted on our servers. All results (scores, logs) are written exclusively to the customer's own database.</a:t>
            </a:r>
            <a:endParaRPr/>
          </a:p>
        </p:txBody>
      </p:sp>
      <p:sp>
        <p:nvSpPr>
          <p:cNvPr id="191" name="Google Shape;191;p6"/>
          <p:cNvSpPr/>
          <p:nvPr/>
        </p:nvSpPr>
        <p:spPr>
          <a:xfrm>
            <a:off x="365760" y="384048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/>
          <p:nvPr/>
        </p:nvSpPr>
        <p:spPr>
          <a:xfrm>
            <a:off x="365760" y="3840480"/>
            <a:ext cx="5303520" cy="91440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6"/>
          <p:cNvSpPr txBox="1"/>
          <p:nvPr/>
        </p:nvSpPr>
        <p:spPr>
          <a:xfrm>
            <a:off x="548640" y="3977640"/>
            <a:ext cx="4937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Full Audit</a:t>
            </a:r>
            <a:br>
              <a:rPr b="1" i="0" lang="en-US" sz="17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7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Trail</a:t>
            </a:r>
            <a:endParaRPr/>
          </a:p>
        </p:txBody>
      </p:sp>
      <p:sp>
        <p:nvSpPr>
          <p:cNvPr id="194" name="Google Shape;194;p6"/>
          <p:cNvSpPr txBox="1"/>
          <p:nvPr/>
        </p:nvSpPr>
        <p:spPr>
          <a:xfrm>
            <a:off x="548640" y="47091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Every check result is logged with: photo ID · trench segment · GPS coordinates · timestamp · pass/fail per check. The export is a court-admissible evidence trail, not just a summary report.</a:t>
            </a:r>
            <a:endParaRPr/>
          </a:p>
        </p:txBody>
      </p:sp>
      <p:sp>
        <p:nvSpPr>
          <p:cNvPr id="195" name="Google Shape;195;p6"/>
          <p:cNvSpPr/>
          <p:nvPr/>
        </p:nvSpPr>
        <p:spPr>
          <a:xfrm>
            <a:off x="6309360" y="384048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6309360" y="3840480"/>
            <a:ext cx="5303520" cy="91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6"/>
          <p:cNvSpPr txBox="1"/>
          <p:nvPr/>
        </p:nvSpPr>
        <p:spPr>
          <a:xfrm>
            <a:off x="6492240" y="3977640"/>
            <a:ext cx="4937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Contractor</a:t>
            </a:r>
            <a:br>
              <a:rPr b="1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Accountability</a:t>
            </a:r>
            <a:endParaRPr/>
          </a:p>
        </p:txBody>
      </p:sp>
      <p:sp>
        <p:nvSpPr>
          <p:cNvPr id="198" name="Google Shape;198;p6"/>
          <p:cNvSpPr txBox="1"/>
          <p:nvPr/>
        </p:nvSpPr>
        <p:spPr>
          <a:xfrm>
            <a:off x="6492240" y="47091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Duplicate-photo detection fingerprints every image. If a contractor reuses the same photo across jobs, the system catches the original, the copy, and all job IDs it was submitted to. In our pilot: ~600 duplicates detected automatically.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 txBox="1"/>
          <p:nvPr/>
        </p:nvSpPr>
        <p:spPr>
          <a:xfrm>
            <a:off x="640080" y="54864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Every Unreviewed Meter Is a Liability.</a:t>
            </a:r>
            <a:br>
              <a:rPr b="1" i="0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We Close That Gap — Automatically.</a:t>
            </a:r>
            <a:endParaRPr/>
          </a:p>
        </p:txBody>
      </p:sp>
      <p:sp>
        <p:nvSpPr>
          <p:cNvPr id="206" name="Google Shape;206;p7"/>
          <p:cNvSpPr/>
          <p:nvPr/>
        </p:nvSpPr>
        <p:spPr>
          <a:xfrm>
            <a:off x="86868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868680" y="1600200"/>
            <a:ext cx="3291840" cy="137160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 txBox="1"/>
          <p:nvPr/>
        </p:nvSpPr>
        <p:spPr>
          <a:xfrm>
            <a:off x="868680" y="182880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209" name="Google Shape;209;p7"/>
          <p:cNvSpPr txBox="1"/>
          <p:nvPr/>
        </p:nvSpPr>
        <p:spPr>
          <a:xfrm>
            <a:off x="868680" y="246888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Approve Pilot</a:t>
            </a:r>
            <a:endParaRPr/>
          </a:p>
        </p:txBody>
      </p:sp>
      <p:sp>
        <p:nvSpPr>
          <p:cNvPr id="210" name="Google Shape;210;p7"/>
          <p:cNvSpPr txBox="1"/>
          <p:nvPr/>
        </p:nvSpPr>
        <p:spPr>
          <a:xfrm>
            <a:off x="1051560" y="3200400"/>
            <a:ext cx="29260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Authorise the TrenchVerify AI pilot</a:t>
            </a:r>
            <a:b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for the current Klosterneuburg</a:t>
            </a:r>
            <a:b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route build</a:t>
            </a:r>
            <a:endParaRPr/>
          </a:p>
        </p:txBody>
      </p:sp>
      <p:sp>
        <p:nvSpPr>
          <p:cNvPr id="211" name="Google Shape;211;p7"/>
          <p:cNvSpPr/>
          <p:nvPr/>
        </p:nvSpPr>
        <p:spPr>
          <a:xfrm>
            <a:off x="461772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7"/>
          <p:cNvSpPr/>
          <p:nvPr/>
        </p:nvSpPr>
        <p:spPr>
          <a:xfrm>
            <a:off x="4617720" y="1600200"/>
            <a:ext cx="3291840" cy="137160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 txBox="1"/>
          <p:nvPr/>
        </p:nvSpPr>
        <p:spPr>
          <a:xfrm>
            <a:off x="4617720" y="182880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214" name="Google Shape;214;p7"/>
          <p:cNvSpPr txBox="1"/>
          <p:nvPr/>
        </p:nvSpPr>
        <p:spPr>
          <a:xfrm>
            <a:off x="4617720" y="246888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Define KPIs</a:t>
            </a:r>
            <a:endParaRPr/>
          </a:p>
        </p:txBody>
      </p:sp>
      <p:sp>
        <p:nvSpPr>
          <p:cNvPr id="215" name="Google Shape;215;p7"/>
          <p:cNvSpPr txBox="1"/>
          <p:nvPr/>
        </p:nvSpPr>
        <p:spPr>
          <a:xfrm>
            <a:off x="4800600" y="3200400"/>
            <a:ext cx="29260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Set acceptance thresholds:</a:t>
            </a:r>
            <a:b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coverage %, photo compliance rate,</a:t>
            </a:r>
            <a:b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time-to-report</a:t>
            </a:r>
            <a:endParaRPr/>
          </a:p>
        </p:txBody>
      </p:sp>
      <p:sp>
        <p:nvSpPr>
          <p:cNvPr id="216" name="Google Shape;216;p7"/>
          <p:cNvSpPr/>
          <p:nvPr/>
        </p:nvSpPr>
        <p:spPr>
          <a:xfrm>
            <a:off x="836676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/>
          <p:nvPr/>
        </p:nvSpPr>
        <p:spPr>
          <a:xfrm>
            <a:off x="8366760" y="1600200"/>
            <a:ext cx="3291840" cy="137160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7"/>
          <p:cNvSpPr txBox="1"/>
          <p:nvPr/>
        </p:nvSpPr>
        <p:spPr>
          <a:xfrm>
            <a:off x="8366760" y="182880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>
                <a:solidFill>
                  <a:srgbClr val="00D47E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219" name="Google Shape;219;p7"/>
          <p:cNvSpPr txBox="1"/>
          <p:nvPr/>
        </p:nvSpPr>
        <p:spPr>
          <a:xfrm>
            <a:off x="8366760" y="246888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Scale</a:t>
            </a:r>
            <a:endParaRPr/>
          </a:p>
        </p:txBody>
      </p:sp>
      <p:sp>
        <p:nvSpPr>
          <p:cNvPr id="220" name="Google Shape;220;p7"/>
          <p:cNvSpPr txBox="1"/>
          <p:nvPr/>
        </p:nvSpPr>
        <p:spPr>
          <a:xfrm>
            <a:off x="8549640" y="3200400"/>
            <a:ext cx="29260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Roll out across all future APG</a:t>
            </a:r>
            <a:b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construction phases — protect</a:t>
            </a:r>
            <a:b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the full network</a:t>
            </a:r>
            <a:endParaRPr/>
          </a:p>
        </p:txBody>
      </p:sp>
      <p:sp>
        <p:nvSpPr>
          <p:cNvPr id="221" name="Google Shape;221;p7"/>
          <p:cNvSpPr txBox="1"/>
          <p:nvPr/>
        </p:nvSpPr>
        <p:spPr>
          <a:xfrm>
            <a:off x="457200" y="5623560"/>
            <a:ext cx="112471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00D47E"/>
                </a:solidFill>
                <a:latin typeface="Calibri"/>
                <a:ea typeface="Calibri"/>
                <a:cs typeface="Calibri"/>
                <a:sym typeface="Calibri"/>
              </a:rPr>
              <a:t>Protect €42M+ in infrastructure.  Secure the 50-year network lifespan.  Act today.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e2a95130a1_0_47"/>
          <p:cNvSpPr/>
          <p:nvPr/>
        </p:nvSpPr>
        <p:spPr>
          <a:xfrm>
            <a:off x="0" y="0"/>
            <a:ext cx="12189000" cy="73200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g3e2a95130a1_0_47"/>
          <p:cNvSpPr/>
          <p:nvPr/>
        </p:nvSpPr>
        <p:spPr>
          <a:xfrm>
            <a:off x="0" y="6766560"/>
            <a:ext cx="12189000" cy="73200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g3e2a95130a1_0_47"/>
          <p:cNvSpPr txBox="1"/>
          <p:nvPr/>
        </p:nvSpPr>
        <p:spPr>
          <a:xfrm>
            <a:off x="640080" y="548640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Report</a:t>
            </a:r>
            <a:endParaRPr/>
          </a:p>
        </p:txBody>
      </p:sp>
      <p:pic>
        <p:nvPicPr>
          <p:cNvPr id="229" name="Google Shape;229;g3e2a95130a1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3125" y="1224240"/>
            <a:ext cx="4791962" cy="53899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g3e2a95130a1_0_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07187" y="1224240"/>
            <a:ext cx="4848466" cy="5389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e2a95130a1_0_26"/>
          <p:cNvSpPr/>
          <p:nvPr/>
        </p:nvSpPr>
        <p:spPr>
          <a:xfrm>
            <a:off x="0" y="0"/>
            <a:ext cx="12189000" cy="73200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g3e2a95130a1_0_26"/>
          <p:cNvSpPr/>
          <p:nvPr/>
        </p:nvSpPr>
        <p:spPr>
          <a:xfrm>
            <a:off x="0" y="6766560"/>
            <a:ext cx="12189000" cy="73200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g3e2a95130a1_0_26"/>
          <p:cNvSpPr txBox="1"/>
          <p:nvPr/>
        </p:nvSpPr>
        <p:spPr>
          <a:xfrm>
            <a:off x="640080" y="548640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Analysis/Compari</a:t>
            </a: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son</a:t>
            </a:r>
            <a:endParaRPr/>
          </a:p>
        </p:txBody>
      </p:sp>
      <p:pic>
        <p:nvPicPr>
          <p:cNvPr id="238" name="Google Shape;238;g3e2a95130a1_0_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90396" y="1146262"/>
            <a:ext cx="5692076" cy="130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g3e2a95130a1_0_26"/>
          <p:cNvPicPr preferRelativeResize="0"/>
          <p:nvPr/>
        </p:nvPicPr>
        <p:blipFill rotWithShape="1">
          <a:blip r:embed="rId5">
            <a:alphaModFix/>
          </a:blip>
          <a:srcRect b="0" l="1670" r="-1670" t="0"/>
          <a:stretch/>
        </p:blipFill>
        <p:spPr>
          <a:xfrm>
            <a:off x="2760278" y="2524059"/>
            <a:ext cx="6440101" cy="1928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g3e2a95130a1_0_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34975" y="4527122"/>
            <a:ext cx="7125803" cy="1959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g3e2a95130a1_2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650132" cy="6553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g3e2a95130a1_2_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67575"/>
            <a:ext cx="12341224" cy="694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8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 txBox="1"/>
          <p:nvPr/>
        </p:nvSpPr>
        <p:spPr>
          <a:xfrm>
            <a:off x="457200" y="1645920"/>
            <a:ext cx="1124712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/>
          </a:p>
        </p:txBody>
      </p:sp>
      <p:sp>
        <p:nvSpPr>
          <p:cNvPr id="254" name="Google Shape;254;p8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Questions welcome</a:t>
            </a:r>
            <a:endParaRPr/>
          </a:p>
        </p:txBody>
      </p:sp>
      <p:sp>
        <p:nvSpPr>
          <p:cNvPr id="255" name="Google Shape;255;p8"/>
          <p:cNvSpPr txBox="1"/>
          <p:nvPr/>
        </p:nvSpPr>
        <p:spPr>
          <a:xfrm>
            <a:off x="457200" y="4206240"/>
            <a:ext cx="11247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TrenchVerify — From Site Photo to Compliance Audit — Automatically</a:t>
            </a:r>
            <a:endParaRPr/>
          </a:p>
        </p:txBody>
      </p:sp>
      <p:sp>
        <p:nvSpPr>
          <p:cNvPr id="256" name="Google Shape;256;p8"/>
          <p:cNvSpPr txBox="1"/>
          <p:nvPr/>
        </p:nvSpPr>
        <p:spPr>
          <a:xfrm>
            <a:off x="457200" y="4754880"/>
            <a:ext cx="11247120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Team: </a:t>
            </a:r>
            <a:r>
              <a:rPr lang="en-US" sz="15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42 Claudettes : [Ahmad]  ·  [Tino]  ·  [Evgenii]  ·  [Himani]</a:t>
            </a:r>
            <a:endParaRPr b="0" i="0" sz="1500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Built at Vienna UP 2026  ·  All pilot data from APG partner dataset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Evgenii Avdeev</dc:creator>
</cp:coreProperties>
</file>