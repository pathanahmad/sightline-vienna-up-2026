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88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4uYVPGJMBsn4C907AYIYVj7BaW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tino _2002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5-17T09:35:03.623">
    <p:pos x="6000" y="0"/>
    <p:text>reason is mutually exclusive flags. Reccommend multi flag approach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6jJVkgM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2a95130a1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2a95130a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2a95130a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e2a95130a1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2a95130a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e2a95130a1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e2a95130a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e2a95130a1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2a95130a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2a95130a1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2a95130a1_2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2a95130a1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1.xml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6766560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40080" y="146304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TrenchVerify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40080" y="27432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From Site Photo to Compliance Audit — Automatically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40080" y="3566160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AI-powered photo review  ·  Full audit trail  ·  GDPR-compliant</a:t>
            </a:r>
            <a:endParaRPr b="0" i="0" sz="1400" u="none" cap="none" strike="noStrike">
              <a:solidFill>
                <a:srgbClr val="CCD6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40080" y="5852160"/>
            <a:ext cx="731520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Team: 42 Claudettes : [Ahmad]  ·  [Tino]  ·  [Evgenii]  ·  [Himani]</a:t>
            </a:r>
            <a:endParaRPr sz="1300">
              <a:solidFill>
                <a:srgbClr val="CCD6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686800" y="585216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Vienna UP 2026  ·  May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457200" y="502920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ÖGIG</a:t>
            </a:r>
            <a:r>
              <a:rPr b="1" i="0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Cannot See Will Cost Millions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8502838" y="1371600"/>
            <a:ext cx="3566100" cy="5029200"/>
          </a:xfrm>
          <a:prstGeom prst="rect">
            <a:avLst/>
          </a:prstGeom>
          <a:solidFill>
            <a:srgbClr val="1A2E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685718" y="1508760"/>
            <a:ext cx="3200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Missing</a:t>
            </a:r>
            <a:br>
              <a:rPr b="1" i="0" lang="en-US" sz="20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8685718" y="2423160"/>
            <a:ext cx="32004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No compliant photo evidence for open trench, duct positioning, or sand bedding at critical sections.</a:t>
            </a:r>
            <a:b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Result: Warranty claims invalid — liability shifts from contractors to APG.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4297680" y="1371600"/>
            <a:ext cx="3566160" cy="5029200"/>
          </a:xfrm>
          <a:prstGeom prst="rect">
            <a:avLst/>
          </a:prstGeom>
          <a:solidFill>
            <a:srgbClr val="1A2E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4480560" y="150876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No Audit</a:t>
            </a:r>
            <a:br>
              <a:rPr b="1" i="0" lang="en-US" sz="20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Trail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4480560" y="2423160"/>
            <a:ext cx="3200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Manual spot-checks miss ~30% of defects. No timestamped, per-meter record exists.</a:t>
            </a:r>
            <a:b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Result: Cannot prove contractual compliance after work is buried and closed.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229402" y="1392333"/>
            <a:ext cx="3566100" cy="5029200"/>
          </a:xfrm>
          <a:prstGeom prst="rect">
            <a:avLst/>
          </a:prstGeom>
          <a:solidFill>
            <a:srgbClr val="1A2E4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12282" y="1529493"/>
            <a:ext cx="3200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Slow Human</a:t>
            </a:r>
            <a:r>
              <a:rPr b="1" lang="en-US" sz="20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 Review </a:t>
            </a:r>
            <a:r>
              <a:rPr b="1" i="0" lang="en-US" sz="20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br>
              <a:rPr b="1" i="0" lang="en-US" sz="20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Impossible to Scale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412282" y="2443893"/>
            <a:ext cx="32004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–2 minutes per image</a:t>
            </a:r>
            <a:b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× </a:t>
            </a:r>
            <a:r>
              <a:rPr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0 images per section</a:t>
            </a:r>
            <a:b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× 10 sections per project = thousands of person-days of review</a:t>
            </a:r>
            <a:b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“expensive” or low-quality r</a:t>
            </a: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eview (problems surface years later via excavator damage).</a:t>
            </a:r>
            <a:endParaRPr b="0" i="0" sz="2000">
              <a:solidFill>
                <a:srgbClr val="CCD6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FF4D4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COST OF INACTION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Poor Documentation Today = Exponential Costs Tomorrow</a:t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731520" y="1828800"/>
            <a:ext cx="2560320" cy="2560320"/>
          </a:xfrm>
          <a:prstGeom prst="rect">
            <a:avLst/>
          </a:prstGeom>
          <a:solidFill>
            <a:srgbClr val="3A101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731520" y="192024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€120K+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731520" y="301752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Average cost per</a:t>
            </a:r>
            <a:br>
              <a:rPr b="0" i="0" lang="en-US" sz="19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fiber-cut incident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3657600" y="1828800"/>
            <a:ext cx="2560320" cy="2560320"/>
          </a:xfrm>
          <a:prstGeom prst="rect">
            <a:avLst/>
          </a:prstGeom>
          <a:solidFill>
            <a:srgbClr val="3A101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3657600" y="192024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3–5×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3657600" y="301752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Cost multiplier when</a:t>
            </a:r>
            <a:br>
              <a:rPr b="0" i="0" lang="en-US" sz="19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work is undocumented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6583680" y="1828800"/>
            <a:ext cx="2560320" cy="2560320"/>
          </a:xfrm>
          <a:prstGeom prst="rect">
            <a:avLst/>
          </a:prstGeom>
          <a:solidFill>
            <a:srgbClr val="3A101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6583680" y="192024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€2.4M+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6583680" y="301752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Estimated 5-year</a:t>
            </a:r>
            <a:br>
              <a:rPr b="0" i="0" lang="en-US" sz="19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exposure if unresolved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9509760" y="1828800"/>
            <a:ext cx="2560320" cy="2560320"/>
          </a:xfrm>
          <a:prstGeom prst="rect">
            <a:avLst/>
          </a:prstGeom>
          <a:solidFill>
            <a:srgbClr val="3A101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9509760" y="192024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FF4D4D"/>
                </a:solidFill>
                <a:latin typeface="Calibri"/>
                <a:ea typeface="Calibri"/>
                <a:cs typeface="Calibri"/>
                <a:sym typeface="Calibri"/>
              </a:rPr>
              <a:t>50 yrs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9509760" y="3017520"/>
            <a:ext cx="2560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Planned asset lifespan</a:t>
            </a:r>
            <a:br>
              <a:rPr b="0" i="0" lang="en-US" sz="19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now at risk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457200" y="530352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The real question isn't whether to fix this.</a:t>
            </a:r>
            <a:br>
              <a:rPr b="1" i="0" lang="en-US" sz="18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It's whether to fix it before or after the next fiber cut.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457200" y="502920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Digital Compliance Platform — Built for 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ÖGIG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731520" y="1463040"/>
            <a:ext cx="2560320" cy="4846320"/>
          </a:xfrm>
          <a:prstGeom prst="rect">
            <a:avLst/>
          </a:prstGeom>
          <a:solidFill>
            <a:srgbClr val="1226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731520" y="1463040"/>
            <a:ext cx="2560320" cy="109728"/>
          </a:xfrm>
          <a:prstGeom prst="rect">
            <a:avLst/>
          </a:prstGeom>
          <a:solidFill>
            <a:srgbClr val="00D4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731520" y="169164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D47E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br>
              <a:rPr b="1" i="0" lang="en-US" sz="2200">
                <a:solidFill>
                  <a:srgbClr val="00D47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>
                <a:solidFill>
                  <a:srgbClr val="00D47E"/>
                </a:solidFill>
                <a:latin typeface="Calibri"/>
                <a:ea typeface="Calibri"/>
                <a:cs typeface="Calibri"/>
                <a:sym typeface="Calibri"/>
              </a:rPr>
              <a:t>Coverage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868680" y="2834640"/>
            <a:ext cx="2286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Every trench segment reviewed automatically.</a:t>
            </a:r>
            <a:b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No spot-checks. No gaps.</a:t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3657600" y="1463040"/>
            <a:ext cx="2560320" cy="4846320"/>
          </a:xfrm>
          <a:prstGeom prst="rect">
            <a:avLst/>
          </a:prstGeom>
          <a:solidFill>
            <a:srgbClr val="1226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657600" y="1463040"/>
            <a:ext cx="2560320" cy="109728"/>
          </a:xfrm>
          <a:prstGeom prst="rect">
            <a:avLst/>
          </a:prstGeom>
          <a:solidFill>
            <a:srgbClr val="00A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3657600" y="169164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Full</a:t>
            </a:r>
            <a:br>
              <a:rPr b="1" i="0" lang="en-US" sz="2200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Audit Trail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3794760" y="2834640"/>
            <a:ext cx="2286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Every photo timestamped, GPS-matched,</a:t>
            </a:r>
            <a:b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compliance-scored, and logged.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6583680" y="1463040"/>
            <a:ext cx="2560320" cy="4846320"/>
          </a:xfrm>
          <a:prstGeom prst="rect">
            <a:avLst/>
          </a:prstGeom>
          <a:solidFill>
            <a:srgbClr val="1226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583680" y="1463040"/>
            <a:ext cx="2560320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6583680" y="169164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GDPR</a:t>
            </a:r>
            <a:br>
              <a:rPr b="1" i="0" lang="en-US" sz="22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Safe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6720840" y="2834640"/>
            <a:ext cx="2286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Faces &amp; plates auto-detected and withheld.</a:t>
            </a:r>
            <a:b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Nothing stored on our infrastructure.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9509760" y="1463040"/>
            <a:ext cx="2560320" cy="4846320"/>
          </a:xfrm>
          <a:prstGeom prst="rect">
            <a:avLst/>
          </a:prstGeom>
          <a:solidFill>
            <a:srgbClr val="1226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9509760" y="1463040"/>
            <a:ext cx="256032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9509760" y="169164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99%</a:t>
            </a:r>
            <a:br>
              <a:rPr b="1" i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9646920" y="2834640"/>
            <a:ext cx="2286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&lt; 30 minutes for the full route —</a:t>
            </a:r>
            <a:b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vs. 3–5 days per section manually.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e2a95130a1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6675"/>
            <a:ext cx="12073475" cy="679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2a95130a1_0_3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00A8E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e2a95130a1_0_3"/>
          <p:cNvSpPr/>
          <p:nvPr/>
        </p:nvSpPr>
        <p:spPr>
          <a:xfrm>
            <a:off x="0" y="6766560"/>
            <a:ext cx="12189000" cy="73200"/>
          </a:xfrm>
          <a:prstGeom prst="rect">
            <a:avLst/>
          </a:prstGeom>
          <a:solidFill>
            <a:srgbClr val="00D47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e2a95130a1_0_3"/>
          <p:cNvSpPr txBox="1"/>
          <p:nvPr/>
        </p:nvSpPr>
        <p:spPr>
          <a:xfrm>
            <a:off x="640080" y="548640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Solution</a:t>
            </a:r>
            <a:endParaRPr/>
          </a:p>
        </p:txBody>
      </p:sp>
      <p:sp>
        <p:nvSpPr>
          <p:cNvPr id="162" name="Google Shape;162;g3e2a95130a1_0_3"/>
          <p:cNvSpPr/>
          <p:nvPr/>
        </p:nvSpPr>
        <p:spPr>
          <a:xfrm>
            <a:off x="8871675" y="1071850"/>
            <a:ext cx="3049800" cy="4301100"/>
          </a:xfrm>
          <a:prstGeom prst="rect">
            <a:avLst/>
          </a:prstGeom>
          <a:solidFill>
            <a:srgbClr val="1A2E42"/>
          </a:solidFill>
          <a:ln>
            <a:noFill/>
          </a:ln>
          <a:effectLst>
            <a:outerShdw blurRad="34210" rotWithShape="0" dir="5400000" dist="19671">
              <a:srgbClr val="000000">
                <a:alpha val="34900"/>
              </a:srgbClr>
            </a:outerShdw>
          </a:effectLst>
        </p:spPr>
        <p:txBody>
          <a:bodyPr anchorCtr="0" anchor="ctr" bIns="39075" lIns="78200" spcFirstLastPara="1" rIns="78200" wrap="square" tIns="390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e2a95130a1_0_3"/>
          <p:cNvSpPr txBox="1"/>
          <p:nvPr/>
        </p:nvSpPr>
        <p:spPr>
          <a:xfrm>
            <a:off x="9028083" y="1189156"/>
            <a:ext cx="27372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9075" lIns="78200" spcFirstLastPara="1" rIns="78200" wrap="square" tIns="390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11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User input:</a:t>
            </a:r>
            <a:endParaRPr sz="1197"/>
          </a:p>
        </p:txBody>
      </p:sp>
      <p:sp>
        <p:nvSpPr>
          <p:cNvPr id="164" name="Google Shape;164;g3e2a95130a1_0_3"/>
          <p:cNvSpPr txBox="1"/>
          <p:nvPr/>
        </p:nvSpPr>
        <p:spPr>
          <a:xfrm>
            <a:off x="9028083" y="1971197"/>
            <a:ext cx="2737200" cy="27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9075" lIns="78200" spcFirstLastPara="1" rIns="78200" wrap="square" tIns="39075">
            <a:spAutoFit/>
          </a:bodyPr>
          <a:lstStyle/>
          <a:p>
            <a:pPr indent="-337217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CD6E0"/>
              </a:buClr>
              <a:buSzPts val="1711"/>
              <a:buFont typeface="Calibri"/>
              <a:buChar char="●"/>
            </a:pPr>
            <a:r>
              <a:rPr lang="en-US" sz="1711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photos for analysis</a:t>
            </a:r>
            <a:endParaRPr sz="1711">
              <a:solidFill>
                <a:srgbClr val="CCD6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7217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CD6E0"/>
              </a:buClr>
              <a:buSzPts val="1711"/>
              <a:buFont typeface="Calibri"/>
              <a:buChar char="●"/>
            </a:pPr>
            <a:r>
              <a:rPr lang="en-US" sz="1711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GPS data (Trenches_geojson, POP_geojson, FCPs_geojson, FCP_Polygons_geojson)</a:t>
            </a:r>
            <a:endParaRPr sz="1711">
              <a:solidFill>
                <a:srgbClr val="CCD6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11">
              <a:solidFill>
                <a:srgbClr val="CCD6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1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Upload them to a single archive; the app will recognize the contents</a:t>
            </a:r>
            <a:endParaRPr sz="1711">
              <a:solidFill>
                <a:srgbClr val="CCD6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g3e2a95130a1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4240"/>
            <a:ext cx="8566876" cy="448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2a95130a1_0_63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00A8E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e2a95130a1_0_63"/>
          <p:cNvSpPr/>
          <p:nvPr/>
        </p:nvSpPr>
        <p:spPr>
          <a:xfrm>
            <a:off x="0" y="6766560"/>
            <a:ext cx="12189000" cy="73200"/>
          </a:xfrm>
          <a:prstGeom prst="rect">
            <a:avLst/>
          </a:prstGeom>
          <a:solidFill>
            <a:srgbClr val="00D47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e2a95130a1_0_63"/>
          <p:cNvSpPr txBox="1"/>
          <p:nvPr/>
        </p:nvSpPr>
        <p:spPr>
          <a:xfrm>
            <a:off x="640080" y="548640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Solution</a:t>
            </a:r>
            <a:endParaRPr/>
          </a:p>
        </p:txBody>
      </p:sp>
      <p:pic>
        <p:nvPicPr>
          <p:cNvPr id="173" name="Google Shape;173;g3e2a95130a1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588" y="1230999"/>
            <a:ext cx="10449649" cy="527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e2a95130a1_0_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19303" y="4330374"/>
            <a:ext cx="2415199" cy="232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0" y="109728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COMPLIANCE &amp; GDPR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457200" y="502920"/>
            <a:ext cx="10972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Compliance Report: What 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ÖGIG</a:t>
            </a:r>
            <a:r>
              <a:rPr b="1" i="0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Receives</a:t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365760" y="1371600"/>
            <a:ext cx="5303520" cy="2286000"/>
          </a:xfrm>
          <a:prstGeom prst="rect">
            <a:avLst/>
          </a:prstGeom>
          <a:solidFill>
            <a:srgbClr val="1226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65760" y="1371600"/>
            <a:ext cx="5303520" cy="91440"/>
          </a:xfrm>
          <a:prstGeom prst="rect">
            <a:avLst/>
          </a:prstGeom>
          <a:solidFill>
            <a:srgbClr val="00D4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548640" y="150876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00D47E"/>
                </a:solidFill>
                <a:latin typeface="Calibri"/>
                <a:ea typeface="Calibri"/>
                <a:cs typeface="Calibri"/>
                <a:sym typeface="Calibri"/>
              </a:rPr>
              <a:t>GDPR / NIS2</a:t>
            </a:r>
            <a:br>
              <a:rPr b="1" i="0" lang="en-US" sz="1700">
                <a:solidFill>
                  <a:srgbClr val="00D47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>
                <a:solidFill>
                  <a:srgbClr val="00D47E"/>
                </a:solidFill>
                <a:latin typeface="Calibri"/>
                <a:ea typeface="Calibri"/>
                <a:cs typeface="Calibri"/>
                <a:sym typeface="Calibri"/>
              </a:rPr>
              <a:t>Compliant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548640" y="2140131"/>
            <a:ext cx="49377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Faces and license plates detected in every photo before any reviewer sees them. Flagged images are withheld from the display grid and routed to a "needs retake" list. 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6309360" y="1371600"/>
            <a:ext cx="5303520" cy="2286000"/>
          </a:xfrm>
          <a:prstGeom prst="rect">
            <a:avLst/>
          </a:prstGeom>
          <a:solidFill>
            <a:srgbClr val="1226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309360" y="1371600"/>
            <a:ext cx="5303520" cy="91440"/>
          </a:xfrm>
          <a:prstGeom prst="rect">
            <a:avLst/>
          </a:prstGeom>
          <a:solidFill>
            <a:srgbClr val="00A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6492240" y="150876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Zero Data</a:t>
            </a:r>
            <a:br>
              <a:rPr b="1" i="0" lang="en-US" sz="1700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6492240" y="2140131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Photos are processed transiently — held in memory for the duration of the AI call, then released. Nothing is persisted on our servers. All results (scores, logs) are written exclusively to the customer's own database.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365760" y="3840480"/>
            <a:ext cx="5303520" cy="2286000"/>
          </a:xfrm>
          <a:prstGeom prst="rect">
            <a:avLst/>
          </a:prstGeom>
          <a:solidFill>
            <a:srgbClr val="1226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65760" y="3840480"/>
            <a:ext cx="5303520" cy="9144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548640" y="397764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Full Audit</a:t>
            </a:r>
            <a:br>
              <a:rPr b="1" i="0" lang="en-US" sz="17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Trail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548640" y="470916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Every check result is logged with: photo ID · trench segment · GPS coordinates · timestamp · pass/fail per check. The export is a court-admissible evidence trail, not just a summary report.</a:t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6309360" y="3840480"/>
            <a:ext cx="5303520" cy="2286000"/>
          </a:xfrm>
          <a:prstGeom prst="rect">
            <a:avLst/>
          </a:prstGeom>
          <a:solidFill>
            <a:srgbClr val="1226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309360" y="3840480"/>
            <a:ext cx="530352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6492240" y="3977640"/>
            <a:ext cx="4937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Contractor</a:t>
            </a:r>
            <a:br>
              <a:rPr b="1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Accountability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6492240" y="470916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Duplicate-photo detection fingerprints every image. If a contractor reuses the same photo across jobs, the system catches the original, the copy, and all job IDs it was submitted to. In our pilot: ~600 duplicates detected automatically.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0" y="6766560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Unreviewed Meter Is a Liability.</a:t>
            </a:r>
            <a:b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Close That Gap — Automatically.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868680" y="1600200"/>
            <a:ext cx="3291840" cy="3840480"/>
          </a:xfrm>
          <a:prstGeom prst="rect">
            <a:avLst/>
          </a:prstGeom>
          <a:solidFill>
            <a:srgbClr val="1226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868680" y="1600200"/>
            <a:ext cx="3291840" cy="137160"/>
          </a:xfrm>
          <a:prstGeom prst="rect">
            <a:avLst/>
          </a:prstGeom>
          <a:solidFill>
            <a:srgbClr val="00A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868680" y="182880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868680" y="246888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 Pilot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1051560" y="3200400"/>
            <a:ext cx="2926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Authorise the TrenchVerify AI pilot</a:t>
            </a:r>
            <a:b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for the current Klosterneuburg</a:t>
            </a:r>
            <a:b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route build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617720" y="1600200"/>
            <a:ext cx="3291840" cy="3840480"/>
          </a:xfrm>
          <a:prstGeom prst="rect">
            <a:avLst/>
          </a:prstGeom>
          <a:solidFill>
            <a:srgbClr val="1226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617720" y="1600200"/>
            <a:ext cx="3291840" cy="137160"/>
          </a:xfrm>
          <a:prstGeom prst="rect">
            <a:avLst/>
          </a:prstGeom>
          <a:solidFill>
            <a:srgbClr val="FFC10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4617720" y="182880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4617720" y="246888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Define KPIs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4800600" y="3200400"/>
            <a:ext cx="2926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Set acceptance thresholds:</a:t>
            </a:r>
            <a:b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coverage %, photo compliance rate,</a:t>
            </a:r>
            <a:b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time-to-report</a:t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8366760" y="1600200"/>
            <a:ext cx="3291840" cy="3840480"/>
          </a:xfrm>
          <a:prstGeom prst="rect">
            <a:avLst/>
          </a:prstGeom>
          <a:solidFill>
            <a:srgbClr val="1226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8366760" y="1600200"/>
            <a:ext cx="3291840" cy="137160"/>
          </a:xfrm>
          <a:prstGeom prst="rect">
            <a:avLst/>
          </a:prstGeom>
          <a:solidFill>
            <a:srgbClr val="00D4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8366760" y="182880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00D47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18" name="Google Shape;218;p7"/>
          <p:cNvSpPr txBox="1"/>
          <p:nvPr/>
        </p:nvSpPr>
        <p:spPr>
          <a:xfrm>
            <a:off x="8366760" y="246888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8549640" y="3200400"/>
            <a:ext cx="2926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Roll out across all future APG</a:t>
            </a:r>
            <a:b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construction phases — protect</a:t>
            </a:r>
            <a:b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the full network</a:t>
            </a:r>
            <a:endParaRPr/>
          </a:p>
        </p:txBody>
      </p:sp>
      <p:sp>
        <p:nvSpPr>
          <p:cNvPr id="220" name="Google Shape;220;p7"/>
          <p:cNvSpPr txBox="1"/>
          <p:nvPr/>
        </p:nvSpPr>
        <p:spPr>
          <a:xfrm>
            <a:off x="457200" y="562356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00D47E"/>
                </a:solidFill>
                <a:latin typeface="Calibri"/>
                <a:ea typeface="Calibri"/>
                <a:cs typeface="Calibri"/>
                <a:sym typeface="Calibri"/>
              </a:rPr>
              <a:t>Protect €42M+ in infrastructure.  Secure the 50-year network lifespan.  Act today.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2a95130a1_0_47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00A8E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e2a95130a1_0_47"/>
          <p:cNvSpPr/>
          <p:nvPr/>
        </p:nvSpPr>
        <p:spPr>
          <a:xfrm>
            <a:off x="0" y="6766560"/>
            <a:ext cx="12189000" cy="73200"/>
          </a:xfrm>
          <a:prstGeom prst="rect">
            <a:avLst/>
          </a:prstGeom>
          <a:solidFill>
            <a:srgbClr val="00D47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e2a95130a1_0_47"/>
          <p:cNvSpPr txBox="1"/>
          <p:nvPr/>
        </p:nvSpPr>
        <p:spPr>
          <a:xfrm>
            <a:off x="640080" y="548640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/>
          </a:p>
        </p:txBody>
      </p:sp>
      <p:pic>
        <p:nvPicPr>
          <p:cNvPr id="228" name="Google Shape;228;g3e2a95130a1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125" y="1224240"/>
            <a:ext cx="4791962" cy="5389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e2a95130a1_0_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7187" y="1224240"/>
            <a:ext cx="4848466" cy="5389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2a95130a1_0_26"/>
          <p:cNvSpPr/>
          <p:nvPr/>
        </p:nvSpPr>
        <p:spPr>
          <a:xfrm>
            <a:off x="0" y="0"/>
            <a:ext cx="12189000" cy="73200"/>
          </a:xfrm>
          <a:prstGeom prst="rect">
            <a:avLst/>
          </a:prstGeom>
          <a:solidFill>
            <a:srgbClr val="00A8E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2a95130a1_0_26"/>
          <p:cNvSpPr/>
          <p:nvPr/>
        </p:nvSpPr>
        <p:spPr>
          <a:xfrm>
            <a:off x="0" y="6766560"/>
            <a:ext cx="12189000" cy="73200"/>
          </a:xfrm>
          <a:prstGeom prst="rect">
            <a:avLst/>
          </a:prstGeom>
          <a:solidFill>
            <a:srgbClr val="00D47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e2a95130a1_0_26"/>
          <p:cNvSpPr txBox="1"/>
          <p:nvPr/>
        </p:nvSpPr>
        <p:spPr>
          <a:xfrm>
            <a:off x="640080" y="548640"/>
            <a:ext cx="10515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Analysis/Compari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</a:t>
            </a:r>
            <a:endParaRPr/>
          </a:p>
        </p:txBody>
      </p:sp>
      <p:pic>
        <p:nvPicPr>
          <p:cNvPr id="237" name="Google Shape;237;g3e2a95130a1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0396" y="1146262"/>
            <a:ext cx="5692076" cy="130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e2a95130a1_0_26"/>
          <p:cNvPicPr preferRelativeResize="0"/>
          <p:nvPr/>
        </p:nvPicPr>
        <p:blipFill rotWithShape="1">
          <a:blip r:embed="rId5">
            <a:alphaModFix/>
          </a:blip>
          <a:srcRect b="0" l="1670" r="-1670" t="0"/>
          <a:stretch/>
        </p:blipFill>
        <p:spPr>
          <a:xfrm>
            <a:off x="2760278" y="2524059"/>
            <a:ext cx="6440101" cy="19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e2a95130a1_0_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34975" y="4527122"/>
            <a:ext cx="7125803" cy="1959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g3e2a95130a1_2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e2a95130a1_2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7575"/>
            <a:ext cx="12341224" cy="69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E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0" y="6766560"/>
            <a:ext cx="12188952" cy="73152"/>
          </a:xfrm>
          <a:prstGeom prst="rect">
            <a:avLst/>
          </a:prstGeom>
          <a:solidFill>
            <a:srgbClr val="00D4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457200" y="1645920"/>
            <a:ext cx="112471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457200" y="33832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>
                <a:solidFill>
                  <a:srgbClr val="00A8E8"/>
                </a:solidFill>
                <a:latin typeface="Calibri"/>
                <a:ea typeface="Calibri"/>
                <a:cs typeface="Calibri"/>
                <a:sym typeface="Calibri"/>
              </a:rPr>
              <a:t>Questions welcome</a:t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457200" y="420624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TrenchVerify — From Site Photo to Compliance Audit — Automatically</a:t>
            </a:r>
            <a:endParaRPr/>
          </a:p>
        </p:txBody>
      </p:sp>
      <p:sp>
        <p:nvSpPr>
          <p:cNvPr id="255" name="Google Shape;255;p8"/>
          <p:cNvSpPr txBox="1"/>
          <p:nvPr/>
        </p:nvSpPr>
        <p:spPr>
          <a:xfrm>
            <a:off x="457200" y="4754880"/>
            <a:ext cx="1124712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Team: </a:t>
            </a:r>
            <a:r>
              <a:rPr lang="en-US" sz="1500">
                <a:solidFill>
                  <a:srgbClr val="CCD6E0"/>
                </a:solidFill>
                <a:latin typeface="Calibri"/>
                <a:ea typeface="Calibri"/>
                <a:cs typeface="Calibri"/>
                <a:sym typeface="Calibri"/>
              </a:rPr>
              <a:t>42 Claudettes : [Ahmad]  ·  [Tino]  ·  [Evgenii]  ·  [Himani]</a:t>
            </a:r>
            <a:endParaRPr b="0" i="0" sz="1500">
              <a:solidFill>
                <a:srgbClr val="CCD6E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Built at Vienna UP 2026  ·  All pilot data from APG partner dataset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Evgenii Avdeev</dc:creator>
</cp:coreProperties>
</file>