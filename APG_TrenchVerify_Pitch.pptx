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58" y="24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TrenchVerify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00A8E8"/>
                </a:solidFill>
              </a:rPr>
              <a:t>From Site Photo to Compliance Audit —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CCD6E0"/>
                </a:solidFill>
              </a:rPr>
              <a:t>AI-powered photo review  ·  Full audit trail  ·  </a:t>
            </a:r>
            <a:r>
              <a:rPr sz="1400" b="0" i="0" dirty="0" smtClean="0">
                <a:solidFill>
                  <a:srgbClr val="CCD6E0"/>
                </a:solidFill>
              </a:rPr>
              <a:t>GDPR-compliant</a:t>
            </a:r>
            <a:endParaRPr sz="1400" b="0" i="0" dirty="0">
              <a:solidFill>
                <a:srgbClr val="CCD6E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7315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 dirty="0">
                <a:solidFill>
                  <a:srgbClr val="CCD6E0"/>
                </a:solidFill>
              </a:rPr>
              <a:t>Team: </a:t>
            </a:r>
            <a:r>
              <a:rPr lang="en-US" sz="1300" dirty="0">
                <a:solidFill>
                  <a:srgbClr val="CCD6E0"/>
                </a:solidFill>
              </a:rPr>
              <a:t>42 </a:t>
            </a:r>
            <a:r>
              <a:rPr lang="en-US" sz="1300" dirty="0" err="1">
                <a:solidFill>
                  <a:srgbClr val="CCD6E0"/>
                </a:solidFill>
              </a:rPr>
              <a:t>Claudettes</a:t>
            </a:r>
            <a:r>
              <a:rPr lang="en-US" sz="1300" dirty="0">
                <a:solidFill>
                  <a:srgbClr val="CCD6E0"/>
                </a:solidFill>
              </a:rPr>
              <a:t> </a:t>
            </a:r>
            <a:r>
              <a:rPr lang="en-US" sz="1300" dirty="0" smtClean="0">
                <a:solidFill>
                  <a:srgbClr val="CCD6E0"/>
                </a:solidFill>
              </a:rPr>
              <a:t>: </a:t>
            </a:r>
            <a:r>
              <a:rPr sz="1300" b="0" i="0" dirty="0" smtClean="0">
                <a:solidFill>
                  <a:srgbClr val="CCD6E0"/>
                </a:solidFill>
              </a:rPr>
              <a:t>[</a:t>
            </a:r>
            <a:r>
              <a:rPr lang="en-US" sz="1300" b="0" i="0" dirty="0" smtClean="0">
                <a:solidFill>
                  <a:srgbClr val="CCD6E0"/>
                </a:solidFill>
              </a:rPr>
              <a:t>Ahmad</a:t>
            </a:r>
            <a:r>
              <a:rPr sz="1300" b="0" i="0" dirty="0" smtClean="0">
                <a:solidFill>
                  <a:srgbClr val="CCD6E0"/>
                </a:solidFill>
              </a:rPr>
              <a:t>]  </a:t>
            </a:r>
            <a:r>
              <a:rPr sz="1300" b="0" i="0" dirty="0">
                <a:solidFill>
                  <a:srgbClr val="CCD6E0"/>
                </a:solidFill>
              </a:rPr>
              <a:t>·  </a:t>
            </a:r>
            <a:r>
              <a:rPr sz="1300" b="0" i="0" dirty="0" smtClean="0">
                <a:solidFill>
                  <a:srgbClr val="CCD6E0"/>
                </a:solidFill>
              </a:rPr>
              <a:t>[</a:t>
            </a:r>
            <a:r>
              <a:rPr lang="en-US" sz="1300" b="0" i="0" dirty="0" err="1" smtClean="0">
                <a:solidFill>
                  <a:srgbClr val="CCD6E0"/>
                </a:solidFill>
              </a:rPr>
              <a:t>Tino</a:t>
            </a:r>
            <a:r>
              <a:rPr sz="1300" b="0" i="0" dirty="0" smtClean="0">
                <a:solidFill>
                  <a:srgbClr val="CCD6E0"/>
                </a:solidFill>
              </a:rPr>
              <a:t>]  </a:t>
            </a:r>
            <a:r>
              <a:rPr sz="1300" b="0" i="0" dirty="0">
                <a:solidFill>
                  <a:srgbClr val="CCD6E0"/>
                </a:solidFill>
              </a:rPr>
              <a:t>·  </a:t>
            </a:r>
            <a:r>
              <a:rPr sz="1300" b="0" i="0" dirty="0" smtClean="0">
                <a:solidFill>
                  <a:srgbClr val="CCD6E0"/>
                </a:solidFill>
              </a:rPr>
              <a:t>[</a:t>
            </a:r>
            <a:r>
              <a:rPr lang="en-US" sz="1300" dirty="0">
                <a:solidFill>
                  <a:srgbClr val="CCD6E0"/>
                </a:solidFill>
              </a:rPr>
              <a:t>Evgenii]  ·  </a:t>
            </a:r>
            <a:r>
              <a:rPr lang="en-US" sz="1300" dirty="0" smtClean="0">
                <a:solidFill>
                  <a:srgbClr val="CCD6E0"/>
                </a:solidFill>
              </a:rPr>
              <a:t>[</a:t>
            </a:r>
            <a:r>
              <a:rPr lang="en-US" sz="1300" dirty="0" err="1" smtClean="0">
                <a:solidFill>
                  <a:srgbClr val="CCD6E0"/>
                </a:solidFill>
              </a:rPr>
              <a:t>Himani</a:t>
            </a:r>
            <a:r>
              <a:rPr lang="en-US" sz="1300" dirty="0" smtClean="0">
                <a:solidFill>
                  <a:srgbClr val="CCD6E0"/>
                </a:solidFill>
              </a:rPr>
              <a:t>]</a:t>
            </a:r>
            <a:endParaRPr lang="en-US" sz="1300" dirty="0">
              <a:solidFill>
                <a:srgbClr val="CCD6E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0" y="5852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CCD6E0"/>
                </a:solidFill>
              </a:rPr>
              <a:t>Vienna UP 2026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APG Cannot See Will Cost Millions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Missing
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6E0"/>
                </a:solidFill>
              </a:rPr>
              <a:t>No compliant photo evidence for open trench, duct positioning, or sand bedding at critical sections.
Result: Warranty claims invalid — liability shifts from contractors to APG.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No Audit
Trail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4231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CD6E0"/>
                </a:solidFill>
              </a:rPr>
              <a:t>Manual spot-checks miss ~30% of defects. No timestamped, per-meter record exists.
Result: Cannot prove contractual compliance after work is buried and closed.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107"/>
                </a:solidFill>
              </a:rPr>
              <a:t>Slow &amp;
Impossible to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23160"/>
            <a:ext cx="32004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dirty="0">
                <a:solidFill>
                  <a:srgbClr val="CCD6E0"/>
                </a:solidFill>
              </a:rPr>
              <a:t>1</a:t>
            </a:r>
            <a:r>
              <a:rPr sz="2000" b="0" i="0" dirty="0" smtClean="0">
                <a:solidFill>
                  <a:srgbClr val="CCD6E0"/>
                </a:solidFill>
              </a:rPr>
              <a:t>–</a:t>
            </a:r>
            <a:r>
              <a:rPr lang="en-US" sz="2000" b="0" i="0" dirty="0" smtClean="0">
                <a:solidFill>
                  <a:srgbClr val="CCD6E0"/>
                </a:solidFill>
              </a:rPr>
              <a:t>2</a:t>
            </a:r>
            <a:r>
              <a:rPr sz="2000" b="0" i="0" dirty="0" smtClean="0">
                <a:solidFill>
                  <a:srgbClr val="CCD6E0"/>
                </a:solidFill>
              </a:rPr>
              <a:t> </a:t>
            </a:r>
            <a:r>
              <a:rPr lang="en-US" sz="2000" b="0" i="0" dirty="0" smtClean="0">
                <a:solidFill>
                  <a:srgbClr val="CCD6E0"/>
                </a:solidFill>
              </a:rPr>
              <a:t>minutes</a:t>
            </a:r>
            <a:r>
              <a:rPr sz="2000" b="0" i="0" dirty="0" smtClean="0">
                <a:solidFill>
                  <a:srgbClr val="CCD6E0"/>
                </a:solidFill>
              </a:rPr>
              <a:t> </a:t>
            </a:r>
            <a:r>
              <a:rPr sz="2000" b="0" i="0" dirty="0">
                <a:solidFill>
                  <a:srgbClr val="CCD6E0"/>
                </a:solidFill>
              </a:rPr>
              <a:t>per </a:t>
            </a:r>
            <a:r>
              <a:rPr lang="en-US" sz="2000" b="0" i="0" dirty="0" smtClean="0">
                <a:solidFill>
                  <a:srgbClr val="CCD6E0"/>
                </a:solidFill>
              </a:rPr>
              <a:t>image</a:t>
            </a:r>
            <a:br>
              <a:rPr lang="en-US" sz="2000" b="0" i="0" dirty="0" smtClean="0">
                <a:solidFill>
                  <a:srgbClr val="CCD6E0"/>
                </a:solidFill>
              </a:rPr>
            </a:br>
            <a:r>
              <a:rPr sz="2000" b="0" i="0" dirty="0" smtClean="0">
                <a:solidFill>
                  <a:srgbClr val="CCD6E0"/>
                </a:solidFill>
              </a:rPr>
              <a:t>× </a:t>
            </a:r>
            <a:r>
              <a:rPr lang="en-US" sz="2000" dirty="0">
                <a:solidFill>
                  <a:srgbClr val="CCD6E0"/>
                </a:solidFill>
              </a:rPr>
              <a:t>6</a:t>
            </a:r>
            <a:r>
              <a:rPr lang="en-US" sz="2000" b="0" i="0" dirty="0" smtClean="0">
                <a:solidFill>
                  <a:srgbClr val="CCD6E0"/>
                </a:solidFill>
              </a:rPr>
              <a:t>0</a:t>
            </a:r>
            <a:r>
              <a:rPr sz="2000" b="0" i="0" dirty="0" smtClean="0">
                <a:solidFill>
                  <a:srgbClr val="CCD6E0"/>
                </a:solidFill>
              </a:rPr>
              <a:t> </a:t>
            </a:r>
            <a:r>
              <a:rPr lang="en-US" sz="2000" b="0" i="0" dirty="0" smtClean="0">
                <a:solidFill>
                  <a:srgbClr val="CCD6E0"/>
                </a:solidFill>
              </a:rPr>
              <a:t>images per section</a:t>
            </a:r>
            <a:br>
              <a:rPr lang="en-US" sz="2000" b="0" i="0" dirty="0" smtClean="0">
                <a:solidFill>
                  <a:srgbClr val="CCD6E0"/>
                </a:solidFill>
              </a:rPr>
            </a:br>
            <a:r>
              <a:rPr sz="2000" b="0" i="0" dirty="0" smtClean="0">
                <a:solidFill>
                  <a:srgbClr val="CCD6E0"/>
                </a:solidFill>
              </a:rPr>
              <a:t>× 10</a:t>
            </a:r>
            <a:r>
              <a:rPr lang="en-US" sz="2000" b="0" i="0" dirty="0" smtClean="0">
                <a:solidFill>
                  <a:srgbClr val="CCD6E0"/>
                </a:solidFill>
              </a:rPr>
              <a:t> sections per project</a:t>
            </a:r>
            <a:r>
              <a:rPr sz="2000" b="0" i="0" dirty="0" smtClean="0">
                <a:solidFill>
                  <a:srgbClr val="CCD6E0"/>
                </a:solidFill>
              </a:rPr>
              <a:t> </a:t>
            </a:r>
            <a:r>
              <a:rPr sz="2000" b="0" i="0" dirty="0">
                <a:solidFill>
                  <a:srgbClr val="CCD6E0"/>
                </a:solidFill>
              </a:rPr>
              <a:t>= thousands of person-days of </a:t>
            </a:r>
            <a:r>
              <a:rPr sz="2000" b="0" i="0" dirty="0" smtClean="0">
                <a:solidFill>
                  <a:srgbClr val="CCD6E0"/>
                </a:solidFill>
              </a:rPr>
              <a:t>revie</a:t>
            </a:r>
            <a:r>
              <a:rPr lang="en-US" sz="2000" b="0" i="0" dirty="0" smtClean="0">
                <a:solidFill>
                  <a:srgbClr val="CCD6E0"/>
                </a:solidFill>
              </a:rPr>
              <a:t>w</a:t>
            </a:r>
            <a:r>
              <a:rPr sz="2000" b="0" i="0" dirty="0">
                <a:solidFill>
                  <a:srgbClr val="CCD6E0"/>
                </a:solidFill>
              </a:rPr>
              <a:t>
Result: </a:t>
            </a:r>
            <a:r>
              <a:rPr lang="en-US" sz="2000" dirty="0" smtClean="0">
                <a:solidFill>
                  <a:srgbClr val="CCD6E0"/>
                </a:solidFill>
              </a:rPr>
              <a:t>“expensive” or low-quality r</a:t>
            </a:r>
            <a:r>
              <a:rPr sz="2000" b="0" i="0" dirty="0" smtClean="0">
                <a:solidFill>
                  <a:srgbClr val="CCD6E0"/>
                </a:solidFill>
              </a:rPr>
              <a:t>eview</a:t>
            </a:r>
            <a:r>
              <a:rPr lang="en-US" sz="2000" b="0" i="0" dirty="0" smtClean="0">
                <a:solidFill>
                  <a:srgbClr val="CCD6E0"/>
                </a:solidFill>
              </a:rPr>
              <a:t> (p</a:t>
            </a:r>
            <a:r>
              <a:rPr sz="2000" b="0" i="0" dirty="0" smtClean="0">
                <a:solidFill>
                  <a:srgbClr val="CCD6E0"/>
                </a:solidFill>
              </a:rPr>
              <a:t>roblems </a:t>
            </a:r>
            <a:r>
              <a:rPr sz="2000" b="0" i="0" dirty="0">
                <a:solidFill>
                  <a:srgbClr val="CCD6E0"/>
                </a:solidFill>
              </a:rPr>
              <a:t>surface years later via excavator </a:t>
            </a:r>
            <a:r>
              <a:rPr sz="2000" b="0" i="0" dirty="0" smtClean="0">
                <a:solidFill>
                  <a:srgbClr val="CCD6E0"/>
                </a:solidFill>
              </a:rPr>
              <a:t>damage</a:t>
            </a:r>
            <a:r>
              <a:rPr lang="en-US" sz="2000" b="0" i="0" dirty="0" smtClean="0">
                <a:solidFill>
                  <a:srgbClr val="CCD6E0"/>
                </a:solidFill>
              </a:rPr>
              <a:t>)</a:t>
            </a:r>
            <a:r>
              <a:rPr sz="2000" b="0" i="0" dirty="0" smtClean="0">
                <a:solidFill>
                  <a:srgbClr val="CCD6E0"/>
                </a:solidFill>
              </a:rPr>
              <a:t>.</a:t>
            </a:r>
            <a:endParaRPr sz="2000" b="0" i="0" dirty="0">
              <a:solidFill>
                <a:srgbClr val="CCD6E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COST OF INACTION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Poor Documentation Today = Exponential Costs 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€120K+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Average cost per
fiber-cut incident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3–5×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Cost multiplier when
work is undocumented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€2.4M+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Estimated 5-year
exposure if unresolved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9760" y="1920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4D4D"/>
                </a:solidFill>
              </a:rPr>
              <a:t>50 yrs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01752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CCD6E0"/>
                </a:solidFill>
              </a:rPr>
              <a:t>Planned asset lifespan
now at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566"/>
                </a:solidFill>
              </a:rPr>
              <a:t>* Based on industry benchmarks and internal öGIG / APG estimates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C107"/>
                </a:solidFill>
              </a:rPr>
              <a:t>The real question isn't whether to fix this.
It's whether to fix it before or after the next fiber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 Digital Compliance Platform — Built for APG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2560320" cy="109728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7E"/>
                </a:solidFill>
              </a:rPr>
              <a:t>100%
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Every trench segment reviewed automatically.
No spot-checks. No gaps.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0" y="1463040"/>
            <a:ext cx="2560320" cy="109728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A8E8"/>
                </a:solidFill>
              </a:rPr>
              <a:t>Full
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Every photo timestamped, GPS-matched,
compliance-scored, and logged.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0" y="1463040"/>
            <a:ext cx="2560320" cy="109728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C107"/>
                </a:solidFill>
              </a:rPr>
              <a:t>GDPR
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D6E0"/>
                </a:solidFill>
              </a:rPr>
              <a:t>Faces &amp; plates auto-detected and withheld.
Nothing stored on our infrastructure.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509760" y="1463040"/>
            <a:ext cx="256032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0" y="169164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99%
Faster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834640"/>
            <a:ext cx="2286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CCD6E0"/>
                </a:solidFill>
              </a:rPr>
              <a:t>&lt; 30 minutes for the full route —
vs. 3–5 days per section manually.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Six Steps, 30 Minutes, Zero Human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60120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Ingest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~3,929 photos +
GeoJSON route file
loaded into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2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98648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98648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Geo-Match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0008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GPS overlay text
matched to trench
segment at 5 m 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97096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37176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37176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7096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AI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6 compliance checks
per photo via
AI vision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5624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775704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75704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Classify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Each segment scored:
GREEN / YELLOW / RED
based on check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0416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74152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714232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14232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4152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Map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Interactive color
map rendered in
browser — click any seg.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38944" y="28346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8E8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12680" y="1417320"/>
            <a:ext cx="1737360" cy="347472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652760" y="1325880"/>
            <a:ext cx="457200" cy="3657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5276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182880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E8"/>
                </a:solidFill>
              </a:rPr>
              <a:t>Audit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468880"/>
            <a:ext cx="1554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D6E0"/>
                </a:solidFill>
              </a:rPr>
              <a:t>CSV + PDF report
downloaded; full
per-meter log exported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074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566"/>
                </a:solidFill>
              </a:rPr>
              <a:t>6 checks: warning tape · sand bedding · side-view angle · depth reference · sealed cable ends · GDPR (faces/plates)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0A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6692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D47E"/>
                </a:solidFill>
              </a:rPr>
              <a:t>Manual review: 3–5 days per section   →   TrenchVerify: &lt; 30 minutes for the full 2,983-segment route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8E8"/>
                </a:solidFill>
              </a:rPr>
              <a:t>COMPLIANCE &amp; GDPR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 Report: What APG Receives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303520" cy="91440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7E"/>
                </a:solidFill>
              </a:rPr>
              <a:t>GDPR / NIS2
Compliant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0131"/>
            <a:ext cx="49377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CCD6E0"/>
                </a:solidFill>
              </a:rPr>
              <a:t>Faces and license plates detected in every photo before any reviewer sees them. Flagged images are withheld from the display grid and routed to a "needs retake" list. 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03520" cy="914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50876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A8E8"/>
                </a:solidFill>
              </a:rPr>
              <a:t>Zero Data
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40131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CCD6E0"/>
                </a:solidFill>
              </a:rPr>
              <a:t>Photos are processed transiently — held in memory for the duration of the AI call, then released. Nothing is persisted on our servers. All results (scores, logs) are written exclusively to the customer's own database.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5303520" cy="914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97764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C107"/>
                </a:solidFill>
              </a:rPr>
              <a:t>Full Audit
Trail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0916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Every check result is logged with: photo ID · trench segment · GPS coordinates · timestamp · pass/fail per check. The export is a court-admissible evidence trail, not just a summary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840480"/>
            <a:ext cx="5303520" cy="91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40"/>
            <a:ext cx="4937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Contractor
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70916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D6E0"/>
                </a:solidFill>
              </a:rPr>
              <a:t>Duplicate-photo detection fingerprints every image. If a contractor reuses the same photo across jobs, the system catches the original, the copy, and all job IDs it was submitted to. In our pilot: ~600 duplicates detected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Every Unreviewed Meter Is a Liability.
We Close That Gap — Automatically.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1600200"/>
            <a:ext cx="3291840" cy="13716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A8E8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Approve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Authorise the TrenchVerify AI pilot
for the current Klosterneuburg
route build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17720" y="1600200"/>
            <a:ext cx="3291840" cy="13716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C107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Define KPIs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Set acceptance thresholds:
coverage %, photo compliance rate,
time-to-report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66760" y="1600200"/>
            <a:ext cx="3291840" cy="137160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1828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D47E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4688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20040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Roll out across all future APG
construction phases — protect
the full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23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D47E"/>
                </a:solidFill>
              </a:rPr>
              <a:t>Protect €42M+ in infrastructure.  Secure the 50-year network lifespan.  Act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00A8E8"/>
                </a:solidFill>
              </a:rP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6E0"/>
                </a:solidFill>
              </a:rPr>
              <a:t>TrenchVerify — From Site Photo to Compliance Audit — Automatically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 dirty="0">
                <a:solidFill>
                  <a:srgbClr val="CCD6E0"/>
                </a:solidFill>
              </a:rPr>
              <a:t>Team: </a:t>
            </a:r>
            <a:r>
              <a:rPr lang="en-US" sz="1500" dirty="0">
                <a:solidFill>
                  <a:srgbClr val="CCD6E0"/>
                </a:solidFill>
              </a:rPr>
              <a:t>42 </a:t>
            </a:r>
            <a:r>
              <a:rPr lang="en-US" sz="1500" dirty="0" err="1">
                <a:solidFill>
                  <a:srgbClr val="CCD6E0"/>
                </a:solidFill>
              </a:rPr>
              <a:t>Claudettes</a:t>
            </a:r>
            <a:r>
              <a:rPr lang="en-US" sz="1500" dirty="0">
                <a:solidFill>
                  <a:srgbClr val="CCD6E0"/>
                </a:solidFill>
              </a:rPr>
              <a:t> : [Ahmad]  ·  [</a:t>
            </a:r>
            <a:r>
              <a:rPr lang="en-US" sz="1500" dirty="0" err="1">
                <a:solidFill>
                  <a:srgbClr val="CCD6E0"/>
                </a:solidFill>
              </a:rPr>
              <a:t>Tino</a:t>
            </a:r>
            <a:r>
              <a:rPr lang="en-US" sz="1500" dirty="0">
                <a:solidFill>
                  <a:srgbClr val="CCD6E0"/>
                </a:solidFill>
              </a:rPr>
              <a:t>]  ·  [Evgenii]  ·  [</a:t>
            </a:r>
            <a:r>
              <a:rPr lang="en-US" sz="1500" dirty="0" err="1">
                <a:solidFill>
                  <a:srgbClr val="CCD6E0"/>
                </a:solidFill>
              </a:rPr>
              <a:t>Himani</a:t>
            </a:r>
            <a:r>
              <a:rPr lang="en-US" sz="1500" dirty="0">
                <a:solidFill>
                  <a:srgbClr val="CCD6E0"/>
                </a:solidFill>
              </a:rPr>
              <a:t>]</a:t>
            </a:r>
            <a:endParaRPr sz="1500" b="0" i="0" dirty="0">
              <a:solidFill>
                <a:srgbClr val="CCD6E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5566"/>
                </a:solidFill>
              </a:rPr>
              <a:t>Built at Vienna UP 2026  ·  All pilot data from APG partner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548</Words>
  <Application>Microsoft Office PowerPoint</Application>
  <PresentationFormat>Custom</PresentationFormat>
  <Paragraphs>88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Evgenii Avdeev</dc:creator>
  <cp:keywords/>
  <dc:description>generated using python-pptx</dc:description>
  <cp:lastModifiedBy>Evgenii Avdeev</cp:lastModifiedBy>
  <cp:revision>6</cp:revision>
  <dcterms:created xsi:type="dcterms:W3CDTF">2013-01-27T09:14:16Z</dcterms:created>
  <dcterms:modified xsi:type="dcterms:W3CDTF">2026-05-16T19:51:50Z</dcterms:modified>
  <cp:category/>
</cp:coreProperties>
</file>