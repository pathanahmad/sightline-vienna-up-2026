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73152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TrenchQC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A8E8"/>
                </a:solidFill>
              </a:rPr>
              <a:t>Automated Compliance for Infrastructure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AI-powered photo review  ·  Full audit trail  ·  GDPR-compliant  ·  Zero data retained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Team: [Name 1]  ·  [Name 2]  ·  [Name 3]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5852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D6E0"/>
                </a:solidFill>
              </a:rPr>
              <a:t>Vienna UP 2026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E8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APG Cannot See Will Cost Millions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502920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C107"/>
                </a:solidFill>
              </a:rPr>
              <a:t>Missing
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E0"/>
                </a:solidFill>
              </a:rPr>
              <a:t>No compliant photo evidence for open trench, duct positioning, or sand bedding at critical sections.
Result: Warranty claims invalid — liability shifts from contractors to APG.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71600"/>
            <a:ext cx="3566160" cy="502920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087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C107"/>
                </a:solidFill>
              </a:rPr>
              <a:t>No Audit
Trail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4231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E0"/>
                </a:solidFill>
              </a:rPr>
              <a:t>Manual spot-checks miss ~30% of defects. No timestamped, per-meter record exists.
Result: Cannot prove contractual compliance after work is buried and closed.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371600"/>
            <a:ext cx="3566160" cy="502920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087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C107"/>
                </a:solidFill>
              </a:rPr>
              <a:t>Slow &amp;
Impossible to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4231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E0"/>
                </a:solidFill>
              </a:rPr>
              <a:t>3–5 days per section × 9 sections × 100× backlog = thousands of person-days of review.
Result: Review gets skipped. Problems surface years later via excavator damage.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7315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E8"/>
                </a:solidFill>
              </a:rPr>
              <a:t>COST OF INACTION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Poor Documentation Today = Exponential Costs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560320" cy="2560320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4D4D"/>
                </a:solidFill>
              </a:rPr>
              <a:t>€120K+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CD6E0"/>
                </a:solidFill>
              </a:rPr>
              <a:t>Average cost per
fiber-cut incident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828800"/>
            <a:ext cx="2560320" cy="2560320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9202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4D4D"/>
                </a:solidFill>
              </a:rPr>
              <a:t>3–5×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0175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CD6E0"/>
                </a:solidFill>
              </a:rPr>
              <a:t>Cost multiplier when
work is undocumented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828800"/>
            <a:ext cx="2560320" cy="2560320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4D4D"/>
                </a:solidFill>
              </a:rPr>
              <a:t>€2.4M+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0175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CD6E0"/>
                </a:solidFill>
              </a:rPr>
              <a:t>Estimated 5-year
exposure if unresolved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1828800"/>
            <a:ext cx="2560320" cy="2560320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19202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4D4D"/>
                </a:solidFill>
              </a:rPr>
              <a:t>50 yrs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30175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CD6E0"/>
                </a:solidFill>
              </a:rPr>
              <a:t>Planned asset lifespan
now at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66"/>
                </a:solidFill>
              </a:rPr>
              <a:t>* Based on industry benchmarks and internal öGIG / APG estimates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035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107"/>
                </a:solidFill>
              </a:rPr>
              <a:t>The real question isn't whether to fix this.
It's whether to fix it before or after the next fiber cut.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73152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E8"/>
                </a:solidFill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 Digital Compliance Platform — Built for APG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560320" cy="484632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560320" cy="109728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7E"/>
                </a:solidFill>
              </a:rPr>
              <a:t>100%
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D6E0"/>
                </a:solidFill>
              </a:rPr>
              <a:t>Every trench segment reviewed automatically.
No spot-checks. No gaps.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463040"/>
            <a:ext cx="2560320" cy="484632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1463040"/>
            <a:ext cx="2560320" cy="10972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6916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8E8"/>
                </a:solidFill>
              </a:rPr>
              <a:t>Full
Audit Trail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8346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D6E0"/>
                </a:solidFill>
              </a:rPr>
              <a:t>Every photo timestamped, GPS-matched,
compliance-scored, and logged.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463040"/>
            <a:ext cx="2560320" cy="484632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1463040"/>
            <a:ext cx="2560320" cy="10972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6916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C107"/>
                </a:solidFill>
              </a:rPr>
              <a:t>GDPR
Safe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8346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D6E0"/>
                </a:solidFill>
              </a:rPr>
              <a:t>Faces &amp; plates auto-detected and withheld.
Nothing stored on our infrastructure.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1463040"/>
            <a:ext cx="2560320" cy="484632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09760" y="1463040"/>
            <a:ext cx="256032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16916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99%
Faster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28346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D6E0"/>
                </a:solidFill>
              </a:rPr>
              <a:t>&lt; 30 minutes for the full route —
vs. 3–5 days per section manually.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7315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E8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Six Steps, 30 Minutes, Zero Human Bottleneck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1737360" cy="347472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1325880"/>
            <a:ext cx="457200" cy="3657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28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E8"/>
                </a:solidFill>
              </a:rPr>
              <a:t>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68880"/>
            <a:ext cx="1554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6E0"/>
                </a:solidFill>
              </a:rPr>
              <a:t>~3,929 photos +
GeoJSON route file
loaded into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4832" y="28346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8E8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58568" y="1417320"/>
            <a:ext cx="1737360" cy="347472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98648" y="1325880"/>
            <a:ext cx="457200" cy="3657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8648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1828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E8"/>
                </a:solidFill>
              </a:rPr>
              <a:t>Geo-Match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0008" y="2468880"/>
            <a:ext cx="1554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6E0"/>
                </a:solidFill>
              </a:rPr>
              <a:t>GPS overlay text
matched to trench
segment at 5 m 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8346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8E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97096" y="1417320"/>
            <a:ext cx="1737360" cy="347472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37176" y="1325880"/>
            <a:ext cx="457200" cy="3657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37176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7096" y="1828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E8"/>
                </a:solidFill>
              </a:rPr>
              <a:t>AI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8536" y="2468880"/>
            <a:ext cx="1554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6E0"/>
                </a:solidFill>
              </a:rPr>
              <a:t>8 compliance checks
per photo via
Claude vision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28346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8E8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35624" y="1417320"/>
            <a:ext cx="1737360" cy="347472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75704" y="1325880"/>
            <a:ext cx="457200" cy="3657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75704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35624" y="1828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E8"/>
                </a:solidFill>
              </a:rPr>
              <a:t>Classify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7064" y="2468880"/>
            <a:ext cx="1554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6E0"/>
                </a:solidFill>
              </a:rPr>
              <a:t>Each segment scored:
GREEN / YELLOW / RED
based on check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0416" y="28346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8E8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74152" y="1417320"/>
            <a:ext cx="1737360" cy="347472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14232" y="1325880"/>
            <a:ext cx="457200" cy="3657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14232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74152" y="1828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E8"/>
                </a:solidFill>
              </a:rPr>
              <a:t>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2" y="2468880"/>
            <a:ext cx="1554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6E0"/>
                </a:solidFill>
              </a:rPr>
              <a:t>Interactive color
map rendered in
browser — click any seg.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38944" y="28346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8E8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12680" y="1417320"/>
            <a:ext cx="1737360" cy="347472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652760" y="1325880"/>
            <a:ext cx="457200" cy="3657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5276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1828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E8"/>
                </a:solidFill>
              </a:rPr>
              <a:t>Audit 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04120" y="2468880"/>
            <a:ext cx="1554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6E0"/>
                </a:solidFill>
              </a:rPr>
              <a:t>CSV + HTML report
downloaded; full
per-meter log exported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074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66"/>
                </a:solidFill>
              </a:rPr>
              <a:t>8 checks: warning tape · sand bedding · side-view angle · depth reference · sealed cable ends · GDPR (faces/plates) · duplicate detection · GPS↔address match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623560"/>
            <a:ext cx="11247120" cy="868680"/>
          </a:xfrm>
          <a:prstGeom prst="rect">
            <a:avLst/>
          </a:prstGeom>
          <a:solidFill>
            <a:srgbClr val="0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6692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D47E"/>
                </a:solidFill>
              </a:rPr>
              <a:t>Manual review: 3–5 days per section   →   TrenchQC: &lt; 30 minutes for the full 2,983-segment route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7315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E8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Two Screens. One Pipeline. Zero Data Retained.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029200" cy="4846320"/>
          </a:xfrm>
          <a:prstGeom prst="rect">
            <a:avLst/>
          </a:prstGeom>
          <a:solidFill>
            <a:srgbClr val="0C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7E"/>
                </a:solidFill>
              </a:rPr>
              <a:t>OPERATOR SCREEN  (on-site)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Upload photos from site tablet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Instant per-photo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"Missing sand photo — retake now"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Catches gaps while trench is open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371600"/>
            <a:ext cx="5303520" cy="484632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E8"/>
                </a:solidFill>
              </a:rPr>
              <a:t>REVIEWER DASHBOARD  (APG office)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AI runs once at upload — results stored, zero re-processing per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65176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Color map: click any red segment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33756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View evidence photos + check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02336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Download audit CSV / HTML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28346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A8E8"/>
                </a:solidFill>
              </a:rPr>
              <a:t>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34290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Same app
?view=upload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29107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Data flow: photos processed transiently in customer cloud  ·  AI model called via API — no photo stored  ·  Results written to customer-owned DB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73152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E8"/>
                </a:solidFill>
              </a:rPr>
              <a:t>COMPLIANCE &amp; GDPR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Regulatory Compliance Baked In — Not Bolted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303520" cy="228600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303520" cy="9144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7E"/>
                </a:solidFill>
              </a:rPr>
              <a:t>GDPR / NIS2
Compliant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Faces and license plates detected in every photo before any reviewer sees them. Flagged images are withheld from the display grid and routed to a "needs retake" list. No personal data is ever shown, stored, or transmitted to our infrastructure.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303520" cy="228600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303520" cy="9144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A8E8"/>
                </a:solidFill>
              </a:rPr>
              <a:t>Zero Data
Retention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Photos are processed transiently — held in memory for the duration of the AI call, then released. Nothing is persisted on our servers. All results (scores, logs) are written exclusively to the customer's own database.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5303520" cy="228600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5303520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7764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C107"/>
                </a:solidFill>
              </a:rPr>
              <a:t>Full Audit
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091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Every check result is logged with: photo ID · trench segment · GPS coordinates · timestamp · pass/fail per check. The export is a court-admissible evidence trail, not just a summary report.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840480"/>
            <a:ext cx="5303520" cy="228600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840480"/>
            <a:ext cx="5303520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97764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Contractor
Accountability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7091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Duplicate-photo detection fingerprints every image. If a contractor reuses the same photo across jobs, the system catches the original, the copy, and all job IDs it was submitted to. In our pilot: ~600 duplicates detected automatically.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73152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E8"/>
                </a:solidFill>
              </a:rP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Numbers Speak for Themselves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430000" cy="859536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47E"/>
                </a:solidFill>
              </a:rPr>
              <a:t>€2.4M+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417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5-year liability exposure eliminated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84708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</a:rPr>
              <a:t>by catching every defect before contractor sign-off
(€120K/incident × ~30% miss rate)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11430000" cy="859536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A8E8"/>
                </a:solidFill>
              </a:rPr>
              <a:t>99%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331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faster review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76148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</a:rPr>
              <a:t>3–5 days per section → &lt; 30 min for the full route
(measured: 3,929 photos in 28 min)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00400"/>
            <a:ext cx="11430000" cy="859536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918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47E"/>
                </a:solidFill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46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segment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67588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</a:rPr>
              <a:t>zero trench meters go unreviewed
(photo-per-5 m rule across all 2,983 segments)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14800"/>
            <a:ext cx="11430000" cy="859536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47E"/>
                </a:solidFill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160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audit transparency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59028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</a:rPr>
              <a:t>every check logged per photo · per meter · per timestamp
(exportable CSV/HTML, court-admissible)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029200"/>
            <a:ext cx="11430000" cy="859536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1206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47E"/>
                </a:solidFill>
              </a:rPr>
              <a:t>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074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hidden GDPR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50468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</a:rPr>
              <a:t>faces &amp; plates flagged and withheld before any reviewer sees them
(NIS2/GDPR checks run on 100% of photos)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080760"/>
            <a:ext cx="11430000" cy="594360"/>
          </a:xfrm>
          <a:prstGeom prst="rect">
            <a:avLst/>
          </a:prstGeom>
          <a:solidFill>
            <a:srgbClr val="003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1264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7E"/>
                </a:solidFill>
              </a:rPr>
              <a:t>$15 in AI cost  ·  28 minutes end-to-end  ·  3,929 photos  ·  2,983 segments scored  ·  ~600 duplicates caught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73152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Every Unreviewed Meter Is a Liability.
We Close That Gap — Automatically.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00200"/>
            <a:ext cx="3291840" cy="384048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600200"/>
            <a:ext cx="3291840" cy="1371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A8E8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Approve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004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Authorise the TrenchQC AI pilot
for the current Klosterneuburg
route build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600200"/>
            <a:ext cx="3291840" cy="384048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600200"/>
            <a:ext cx="3291840" cy="1371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288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C107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688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Define KPIs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2004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Set acceptance thresholds:
coverage %, photo compliance rate,
time-to-report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600200"/>
            <a:ext cx="3291840" cy="384048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600200"/>
            <a:ext cx="3291840" cy="13716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8288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D47E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4688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2004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Roll out across all future APG
construction phases — protect
the full 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235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D47E"/>
                </a:solidFill>
              </a:rPr>
              <a:t>Protect €42M+ in infrastructure.  Secure the 50-year network lifespan.  Act today.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73152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0A8E8"/>
                </a:solidFill>
              </a:rPr>
              <a:t>Questions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6E0"/>
                </a:solidFill>
              </a:rPr>
              <a:t>TrenchQC — Automated Compliance for Infrastructure 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D6E0"/>
                </a:solidFill>
              </a:rPr>
              <a:t>Team: [Name 1]  ·  [Name 2]  ·  [Name 3]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45566"/>
                </a:solidFill>
              </a:rPr>
              <a:t>Built at Vienna UP 2026  ·  All pilot data from APG partner dataset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